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9"/>
  </p:notesMasterIdLst>
  <p:handoutMasterIdLst>
    <p:handoutMasterId r:id="rId20"/>
  </p:handoutMasterIdLst>
  <p:sldIdLst>
    <p:sldId id="256" r:id="rId5"/>
    <p:sldId id="302" r:id="rId6"/>
    <p:sldId id="292" r:id="rId7"/>
    <p:sldId id="399" r:id="rId8"/>
    <p:sldId id="407" r:id="rId9"/>
    <p:sldId id="408" r:id="rId10"/>
    <p:sldId id="409" r:id="rId11"/>
    <p:sldId id="406" r:id="rId12"/>
    <p:sldId id="400" r:id="rId13"/>
    <p:sldId id="401" r:id="rId14"/>
    <p:sldId id="402" r:id="rId15"/>
    <p:sldId id="405" r:id="rId16"/>
    <p:sldId id="403" r:id="rId17"/>
    <p:sldId id="4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0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89474" autoAdjust="0"/>
  </p:normalViewPr>
  <p:slideViewPr>
    <p:cSldViewPr snapToGrid="0">
      <p:cViewPr>
        <p:scale>
          <a:sx n="50" d="100"/>
          <a:sy n="50" d="100"/>
        </p:scale>
        <p:origin x="1284" y="24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822FDAF-FDFA-4D91-B7D5-B70BF0C2E93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65DF751A-81DC-4979-B134-0B9637883D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B43168-3989-412F-9E82-24F6289D3BAA}" type="datetimeFigureOut">
              <a:rPr lang="en-IN" smtClean="0"/>
              <a:t>19-02-2021</a:t>
            </a:fld>
            <a:endParaRPr lang="en-IN"/>
          </a:p>
        </p:txBody>
      </p:sp>
      <p:sp>
        <p:nvSpPr>
          <p:cNvPr id="4" name="Footer Placeholder 3">
            <a:extLst>
              <a:ext uri="{FF2B5EF4-FFF2-40B4-BE49-F238E27FC236}">
                <a16:creationId xmlns:a16="http://schemas.microsoft.com/office/drawing/2014/main" id="{B14DB070-D618-4990-82A6-38791719CE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CC6DBBF4-D3BF-4DBC-BAFC-74C874CF680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0571A9E-F191-4484-BA21-68438700B382}" type="slidenum">
              <a:rPr lang="en-IN" smtClean="0"/>
              <a:t>‹#›</a:t>
            </a:fld>
            <a:endParaRPr lang="en-IN"/>
          </a:p>
        </p:txBody>
      </p:sp>
    </p:spTree>
    <p:extLst>
      <p:ext uri="{BB962C8B-B14F-4D97-AF65-F5344CB8AC3E}">
        <p14:creationId xmlns:p14="http://schemas.microsoft.com/office/powerpoint/2010/main" val="25889975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24BB93-324B-448F-83DE-379D3A550245}" type="datetimeFigureOut">
              <a:rPr lang="en-US" smtClean="0"/>
              <a:t>2/19/2021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EF01D5-93D0-4CAB-8178-D27CE2280C1B}" type="slidenum">
              <a:rPr lang="en-US" smtClean="0"/>
              <a:t>‹#›</a:t>
            </a:fld>
            <a:endParaRPr lang="en-US"/>
          </a:p>
        </p:txBody>
      </p:sp>
    </p:spTree>
    <p:extLst>
      <p:ext uri="{BB962C8B-B14F-4D97-AF65-F5344CB8AC3E}">
        <p14:creationId xmlns:p14="http://schemas.microsoft.com/office/powerpoint/2010/main" val="3508497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src</a:t>
            </a:r>
            <a:r>
              <a:rPr lang="en-IN" sz="1200" kern="1200" dirty="0">
                <a:solidFill>
                  <a:schemeClr val="tx1"/>
                </a:solidFill>
                <a:effectLst/>
                <a:latin typeface="+mn-lt"/>
                <a:ea typeface="+mn-ea"/>
                <a:cs typeface="+mn-cs"/>
              </a:rPr>
              <a:t>/app/auth/</a:t>
            </a:r>
            <a:r>
              <a:rPr lang="en-IN" sz="1200" kern="1200" dirty="0" err="1">
                <a:solidFill>
                  <a:schemeClr val="tx1"/>
                </a:solidFill>
                <a:effectLst/>
                <a:latin typeface="+mn-lt"/>
                <a:ea typeface="+mn-ea"/>
                <a:cs typeface="+mn-cs"/>
              </a:rPr>
              <a:t>auth.service.ts</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import { Injectable } from '@angular/core';</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import { </a:t>
            </a:r>
            <a:r>
              <a:rPr lang="en-IN" sz="1200" kern="1200" dirty="0" err="1">
                <a:solidFill>
                  <a:schemeClr val="tx1"/>
                </a:solidFill>
                <a:effectLst/>
                <a:latin typeface="+mn-lt"/>
                <a:ea typeface="+mn-ea"/>
                <a:cs typeface="+mn-cs"/>
              </a:rPr>
              <a:t>JwtHelperService</a:t>
            </a:r>
            <a:r>
              <a:rPr lang="en-IN" sz="1200" kern="1200" dirty="0">
                <a:solidFill>
                  <a:schemeClr val="tx1"/>
                </a:solidFill>
                <a:effectLst/>
                <a:latin typeface="+mn-lt"/>
                <a:ea typeface="+mn-ea"/>
                <a:cs typeface="+mn-cs"/>
              </a:rPr>
              <a:t> } from '@auth0/angular-</a:t>
            </a:r>
            <a:r>
              <a:rPr lang="en-IN" sz="1200" kern="1200" dirty="0" err="1">
                <a:solidFill>
                  <a:schemeClr val="tx1"/>
                </a:solidFill>
                <a:effectLst/>
                <a:latin typeface="+mn-lt"/>
                <a:ea typeface="+mn-ea"/>
                <a:cs typeface="+mn-cs"/>
              </a:rPr>
              <a:t>jwt</a:t>
            </a:r>
            <a:r>
              <a:rPr lang="en-IN" sz="1200"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@Injectable()</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export class </a:t>
            </a:r>
            <a:r>
              <a:rPr lang="en-IN" sz="1200" kern="1200" dirty="0" err="1">
                <a:solidFill>
                  <a:schemeClr val="tx1"/>
                </a:solidFill>
                <a:effectLst/>
                <a:latin typeface="+mn-lt"/>
                <a:ea typeface="+mn-ea"/>
                <a:cs typeface="+mn-cs"/>
              </a:rPr>
              <a:t>AuthService</a:t>
            </a:r>
            <a:r>
              <a:rPr lang="en-IN"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  constructor(public </a:t>
            </a:r>
            <a:r>
              <a:rPr lang="en-IN" sz="1200" kern="1200" dirty="0" err="1">
                <a:solidFill>
                  <a:schemeClr val="tx1"/>
                </a:solidFill>
                <a:effectLst/>
                <a:latin typeface="+mn-lt"/>
                <a:ea typeface="+mn-ea"/>
                <a:cs typeface="+mn-cs"/>
              </a:rPr>
              <a:t>jwtHelper</a:t>
            </a: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JwtHelperService</a:t>
            </a:r>
            <a:r>
              <a:rPr lang="en-IN"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  //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public </a:t>
            </a:r>
            <a:r>
              <a:rPr lang="en-IN" sz="1200" kern="1200" dirty="0" err="1">
                <a:solidFill>
                  <a:schemeClr val="tx1"/>
                </a:solidFill>
                <a:effectLst/>
                <a:latin typeface="+mn-lt"/>
                <a:ea typeface="+mn-ea"/>
                <a:cs typeface="+mn-cs"/>
              </a:rPr>
              <a:t>isAuthenticated</a:t>
            </a: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boolean</a:t>
            </a:r>
            <a:r>
              <a:rPr lang="en-IN"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const</a:t>
            </a:r>
            <a:r>
              <a:rPr lang="en-IN" sz="1200" kern="1200" dirty="0">
                <a:solidFill>
                  <a:schemeClr val="tx1"/>
                </a:solidFill>
                <a:effectLst/>
                <a:latin typeface="+mn-lt"/>
                <a:ea typeface="+mn-ea"/>
                <a:cs typeface="+mn-cs"/>
              </a:rPr>
              <a:t> token = </a:t>
            </a:r>
            <a:r>
              <a:rPr lang="en-IN" sz="1200" kern="1200" dirty="0" err="1">
                <a:solidFill>
                  <a:schemeClr val="tx1"/>
                </a:solidFill>
                <a:effectLst/>
                <a:latin typeface="+mn-lt"/>
                <a:ea typeface="+mn-ea"/>
                <a:cs typeface="+mn-cs"/>
              </a:rPr>
              <a:t>localStorage.getItem</a:t>
            </a:r>
            <a:r>
              <a:rPr lang="en-IN" sz="1200" kern="1200" dirty="0">
                <a:solidFill>
                  <a:schemeClr val="tx1"/>
                </a:solidFill>
                <a:effectLst/>
                <a:latin typeface="+mn-lt"/>
                <a:ea typeface="+mn-ea"/>
                <a:cs typeface="+mn-cs"/>
              </a:rPr>
              <a:t>('token');</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    // Check whether the token is expired and return</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 true or false</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return !</a:t>
            </a:r>
            <a:r>
              <a:rPr lang="en-IN" sz="1200" kern="1200" dirty="0" err="1">
                <a:solidFill>
                  <a:schemeClr val="tx1"/>
                </a:solidFill>
                <a:effectLst/>
                <a:latin typeface="+mn-lt"/>
                <a:ea typeface="+mn-ea"/>
                <a:cs typeface="+mn-cs"/>
              </a:rPr>
              <a:t>this.jwtHelper.isTokenExpired</a:t>
            </a:r>
            <a:r>
              <a:rPr lang="en-IN" sz="1200" kern="1200" dirty="0">
                <a:solidFill>
                  <a:schemeClr val="tx1"/>
                </a:solidFill>
                <a:effectLst/>
                <a:latin typeface="+mn-lt"/>
                <a:ea typeface="+mn-ea"/>
                <a:cs typeface="+mn-cs"/>
              </a:rPr>
              <a:t>(token);</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88EF01D5-93D0-4CAB-8178-D27CE2280C1B}" type="slidenum">
              <a:rPr lang="en-US" smtClean="0"/>
              <a:t>4</a:t>
            </a:fld>
            <a:endParaRPr lang="en-US"/>
          </a:p>
        </p:txBody>
      </p:sp>
    </p:spTree>
    <p:extLst>
      <p:ext uri="{BB962C8B-B14F-4D97-AF65-F5344CB8AC3E}">
        <p14:creationId xmlns:p14="http://schemas.microsoft.com/office/powerpoint/2010/main" val="4246672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Create a new service which implements the route guard. You can call it whatever you like, but something like auth-</a:t>
            </a:r>
            <a:r>
              <a:rPr lang="en-US" sz="1200" kern="1200" dirty="0" err="1">
                <a:solidFill>
                  <a:schemeClr val="tx1"/>
                </a:solidFill>
                <a:effectLst/>
                <a:latin typeface="+mn-lt"/>
                <a:ea typeface="+mn-ea"/>
                <a:cs typeface="+mn-cs"/>
              </a:rPr>
              <a:t>guard.service</a:t>
            </a:r>
            <a:r>
              <a:rPr lang="en-US" sz="1200" kern="1200" dirty="0">
                <a:solidFill>
                  <a:schemeClr val="tx1"/>
                </a:solidFill>
                <a:effectLst/>
                <a:latin typeface="+mn-lt"/>
                <a:ea typeface="+mn-ea"/>
                <a:cs typeface="+mn-cs"/>
              </a:rPr>
              <a:t> is generally sufficient.</a:t>
            </a:r>
          </a:p>
          <a:p>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src</a:t>
            </a:r>
            <a:r>
              <a:rPr lang="en-IN" sz="1200" kern="1200" dirty="0">
                <a:solidFill>
                  <a:schemeClr val="tx1"/>
                </a:solidFill>
                <a:effectLst/>
                <a:latin typeface="+mn-lt"/>
                <a:ea typeface="+mn-ea"/>
                <a:cs typeface="+mn-cs"/>
              </a:rPr>
              <a:t>/app/auth/auth-</a:t>
            </a:r>
            <a:r>
              <a:rPr lang="en-IN" sz="1200" kern="1200" dirty="0" err="1">
                <a:solidFill>
                  <a:schemeClr val="tx1"/>
                </a:solidFill>
                <a:effectLst/>
                <a:latin typeface="+mn-lt"/>
                <a:ea typeface="+mn-ea"/>
                <a:cs typeface="+mn-cs"/>
              </a:rPr>
              <a:t>guard.service.ts</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import { Injectable } from '@angular/core';</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import { Router, </a:t>
            </a:r>
            <a:r>
              <a:rPr lang="en-IN" sz="1200" kern="1200" dirty="0" err="1">
                <a:solidFill>
                  <a:schemeClr val="tx1"/>
                </a:solidFill>
                <a:effectLst/>
                <a:latin typeface="+mn-lt"/>
                <a:ea typeface="+mn-ea"/>
                <a:cs typeface="+mn-cs"/>
              </a:rPr>
              <a:t>CanActivate</a:t>
            </a:r>
            <a:r>
              <a:rPr lang="en-IN" sz="1200" kern="1200" dirty="0">
                <a:solidFill>
                  <a:schemeClr val="tx1"/>
                </a:solidFill>
                <a:effectLst/>
                <a:latin typeface="+mn-lt"/>
                <a:ea typeface="+mn-ea"/>
                <a:cs typeface="+mn-cs"/>
              </a:rPr>
              <a:t> } from '@angular/router';</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import { </a:t>
            </a:r>
            <a:r>
              <a:rPr lang="en-IN" sz="1200" kern="1200" dirty="0" err="1">
                <a:solidFill>
                  <a:schemeClr val="tx1"/>
                </a:solidFill>
                <a:effectLst/>
                <a:latin typeface="+mn-lt"/>
                <a:ea typeface="+mn-ea"/>
                <a:cs typeface="+mn-cs"/>
              </a:rPr>
              <a:t>AuthService</a:t>
            </a:r>
            <a:r>
              <a:rPr lang="en-IN" sz="1200" kern="1200" dirty="0">
                <a:solidFill>
                  <a:schemeClr val="tx1"/>
                </a:solidFill>
                <a:effectLst/>
                <a:latin typeface="+mn-lt"/>
                <a:ea typeface="+mn-ea"/>
                <a:cs typeface="+mn-cs"/>
              </a:rPr>
              <a:t> } from './</a:t>
            </a:r>
            <a:r>
              <a:rPr lang="en-IN" sz="1200" kern="1200" dirty="0" err="1">
                <a:solidFill>
                  <a:schemeClr val="tx1"/>
                </a:solidFill>
                <a:effectLst/>
                <a:latin typeface="+mn-lt"/>
                <a:ea typeface="+mn-ea"/>
                <a:cs typeface="+mn-cs"/>
              </a:rPr>
              <a:t>auth.service</a:t>
            </a:r>
            <a:r>
              <a:rPr lang="en-IN" sz="1200"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@Injectable()</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export class </a:t>
            </a:r>
            <a:r>
              <a:rPr lang="en-IN" sz="1200" kern="1200" dirty="0" err="1">
                <a:solidFill>
                  <a:schemeClr val="tx1"/>
                </a:solidFill>
                <a:effectLst/>
                <a:latin typeface="+mn-lt"/>
                <a:ea typeface="+mn-ea"/>
                <a:cs typeface="+mn-cs"/>
              </a:rPr>
              <a:t>AuthGuardService</a:t>
            </a:r>
            <a:r>
              <a:rPr lang="en-IN" sz="1200" kern="1200" dirty="0">
                <a:solidFill>
                  <a:schemeClr val="tx1"/>
                </a:solidFill>
                <a:effectLst/>
                <a:latin typeface="+mn-lt"/>
                <a:ea typeface="+mn-ea"/>
                <a:cs typeface="+mn-cs"/>
              </a:rPr>
              <a:t> implements </a:t>
            </a:r>
            <a:r>
              <a:rPr lang="en-IN" sz="1200" kern="1200" dirty="0" err="1">
                <a:solidFill>
                  <a:schemeClr val="tx1"/>
                </a:solidFill>
                <a:effectLst/>
                <a:latin typeface="+mn-lt"/>
                <a:ea typeface="+mn-ea"/>
                <a:cs typeface="+mn-cs"/>
              </a:rPr>
              <a:t>CanActivate</a:t>
            </a:r>
            <a:r>
              <a:rPr lang="en-IN"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  constructor(public auth: </a:t>
            </a:r>
            <a:r>
              <a:rPr lang="en-IN" sz="1200" kern="1200" dirty="0" err="1">
                <a:solidFill>
                  <a:schemeClr val="tx1"/>
                </a:solidFill>
                <a:effectLst/>
                <a:latin typeface="+mn-lt"/>
                <a:ea typeface="+mn-ea"/>
                <a:cs typeface="+mn-cs"/>
              </a:rPr>
              <a:t>AuthService</a:t>
            </a:r>
            <a:r>
              <a:rPr lang="en-IN" sz="1200" kern="1200" dirty="0">
                <a:solidFill>
                  <a:schemeClr val="tx1"/>
                </a:solidFill>
                <a:effectLst/>
                <a:latin typeface="+mn-lt"/>
                <a:ea typeface="+mn-ea"/>
                <a:cs typeface="+mn-cs"/>
              </a:rPr>
              <a:t>, public router: Router) {}</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canActivate</a:t>
            </a: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boolean</a:t>
            </a:r>
            <a:r>
              <a:rPr lang="en-IN" sz="1200" kern="1200" dirty="0">
                <a:solidFill>
                  <a:schemeClr val="tx1"/>
                </a:solidFill>
                <a:effectLst/>
                <a:latin typeface="+mn-lt"/>
                <a:ea typeface="+mn-ea"/>
                <a:cs typeface="+mn-cs"/>
              </a:rPr>
              <a:t>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if (!</a:t>
            </a:r>
            <a:r>
              <a:rPr lang="en-IN" sz="1200" kern="1200" dirty="0" err="1">
                <a:solidFill>
                  <a:schemeClr val="tx1"/>
                </a:solidFill>
                <a:effectLst/>
                <a:latin typeface="+mn-lt"/>
                <a:ea typeface="+mn-ea"/>
                <a:cs typeface="+mn-cs"/>
              </a:rPr>
              <a:t>this.auth.isAuthenticated</a:t>
            </a:r>
            <a:r>
              <a:rPr lang="en-IN" sz="1200" kern="1200" dirty="0">
                <a:solidFill>
                  <a:schemeClr val="tx1"/>
                </a:solidFill>
                <a:effectLst/>
                <a:latin typeface="+mn-lt"/>
                <a:ea typeface="+mn-ea"/>
                <a:cs typeface="+mn-cs"/>
              </a:rPr>
              <a:t>())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this.router.navigate</a:t>
            </a:r>
            <a:r>
              <a:rPr lang="en-IN" sz="1200" kern="1200" dirty="0">
                <a:solidFill>
                  <a:schemeClr val="tx1"/>
                </a:solidFill>
                <a:effectLst/>
                <a:latin typeface="+mn-lt"/>
                <a:ea typeface="+mn-ea"/>
                <a:cs typeface="+mn-cs"/>
              </a:rPr>
              <a:t>(['login']);</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return false;</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return true;</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service injects </a:t>
            </a:r>
            <a:r>
              <a:rPr lang="en-US" sz="1200" kern="1200" dirty="0" err="1">
                <a:solidFill>
                  <a:schemeClr val="tx1"/>
                </a:solidFill>
                <a:effectLst/>
                <a:latin typeface="+mn-lt"/>
                <a:ea typeface="+mn-ea"/>
                <a:cs typeface="+mn-cs"/>
              </a:rPr>
              <a:t>AuthService</a:t>
            </a:r>
            <a:r>
              <a:rPr lang="en-US" sz="1200" kern="1200" dirty="0">
                <a:solidFill>
                  <a:schemeClr val="tx1"/>
                </a:solidFill>
                <a:effectLst/>
                <a:latin typeface="+mn-lt"/>
                <a:ea typeface="+mn-ea"/>
                <a:cs typeface="+mn-cs"/>
              </a:rPr>
              <a:t> and Router and has a single method called </a:t>
            </a:r>
            <a:r>
              <a:rPr lang="en-US" sz="1200" kern="1200" dirty="0" err="1">
                <a:solidFill>
                  <a:schemeClr val="tx1"/>
                </a:solidFill>
                <a:effectLst/>
                <a:latin typeface="+mn-lt"/>
                <a:ea typeface="+mn-ea"/>
                <a:cs typeface="+mn-cs"/>
              </a:rPr>
              <a:t>canActivate</a:t>
            </a:r>
            <a:r>
              <a:rPr lang="en-US" sz="1200" kern="1200" dirty="0">
                <a:solidFill>
                  <a:schemeClr val="tx1"/>
                </a:solidFill>
                <a:effectLst/>
                <a:latin typeface="+mn-lt"/>
                <a:ea typeface="+mn-ea"/>
                <a:cs typeface="+mn-cs"/>
              </a:rPr>
              <a:t>. This method is necessary to properly implement the </a:t>
            </a:r>
            <a:r>
              <a:rPr lang="en-US" sz="1200" kern="1200" dirty="0" err="1">
                <a:solidFill>
                  <a:schemeClr val="tx1"/>
                </a:solidFill>
                <a:effectLst/>
                <a:latin typeface="+mn-lt"/>
                <a:ea typeface="+mn-ea"/>
                <a:cs typeface="+mn-cs"/>
              </a:rPr>
              <a:t>CanActivate</a:t>
            </a:r>
            <a:r>
              <a:rPr lang="en-US" sz="1200" kern="1200" dirty="0">
                <a:solidFill>
                  <a:schemeClr val="tx1"/>
                </a:solidFill>
                <a:effectLst/>
                <a:latin typeface="+mn-lt"/>
                <a:ea typeface="+mn-ea"/>
                <a:cs typeface="+mn-cs"/>
              </a:rPr>
              <a:t> interface.</a:t>
            </a:r>
          </a:p>
          <a:p>
            <a:r>
              <a:rPr lang="en-US" sz="1200" kern="1200" dirty="0">
                <a:solidFill>
                  <a:schemeClr val="tx1"/>
                </a:solidFill>
                <a:effectLst/>
                <a:latin typeface="+mn-lt"/>
                <a:ea typeface="+mn-ea"/>
                <a:cs typeface="+mn-cs"/>
              </a:rPr>
              <a:t>The </a:t>
            </a:r>
            <a:r>
              <a:rPr lang="en-US" sz="1200" kern="1200" dirty="0" err="1">
                <a:solidFill>
                  <a:schemeClr val="tx1"/>
                </a:solidFill>
                <a:effectLst/>
                <a:latin typeface="+mn-lt"/>
                <a:ea typeface="+mn-ea"/>
                <a:cs typeface="+mn-cs"/>
              </a:rPr>
              <a:t>canActivate</a:t>
            </a:r>
            <a:r>
              <a:rPr lang="en-US" sz="1200" kern="1200" dirty="0">
                <a:solidFill>
                  <a:schemeClr val="tx1"/>
                </a:solidFill>
                <a:effectLst/>
                <a:latin typeface="+mn-lt"/>
                <a:ea typeface="+mn-ea"/>
                <a:cs typeface="+mn-cs"/>
              </a:rPr>
              <a:t> method returns a </a:t>
            </a:r>
            <a:r>
              <a:rPr lang="en-US" sz="1200" kern="1200" dirty="0" err="1">
                <a:solidFill>
                  <a:schemeClr val="tx1"/>
                </a:solidFill>
                <a:effectLst/>
                <a:latin typeface="+mn-lt"/>
                <a:ea typeface="+mn-ea"/>
                <a:cs typeface="+mn-cs"/>
              </a:rPr>
              <a:t>boolean</a:t>
            </a:r>
            <a:r>
              <a:rPr lang="en-US" sz="1200" kern="1200" dirty="0">
                <a:solidFill>
                  <a:schemeClr val="tx1"/>
                </a:solidFill>
                <a:effectLst/>
                <a:latin typeface="+mn-lt"/>
                <a:ea typeface="+mn-ea"/>
                <a:cs typeface="+mn-cs"/>
              </a:rPr>
              <a:t> indicating whether or not navigation to a route should be allowed. If the user isn’t authenticated, they are re-routed to some other place, in this case a route called /login.</a:t>
            </a:r>
          </a:p>
          <a:p>
            <a:r>
              <a:rPr lang="en-US" sz="1200" kern="1200" dirty="0">
                <a:solidFill>
                  <a:schemeClr val="tx1"/>
                </a:solidFill>
                <a:effectLst/>
                <a:latin typeface="+mn-lt"/>
                <a:ea typeface="+mn-ea"/>
                <a:cs typeface="+mn-cs"/>
              </a:rPr>
              <a:t>Now the guard can be applied to any routes you wish to protect.</a:t>
            </a:r>
          </a:p>
          <a:p>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src</a:t>
            </a:r>
            <a:r>
              <a:rPr lang="en-IN" sz="1200" kern="1200" dirty="0">
                <a:solidFill>
                  <a:schemeClr val="tx1"/>
                </a:solidFill>
                <a:effectLst/>
                <a:latin typeface="+mn-lt"/>
                <a:ea typeface="+mn-ea"/>
                <a:cs typeface="+mn-cs"/>
              </a:rPr>
              <a:t>/app/</a:t>
            </a:r>
            <a:r>
              <a:rPr lang="en-IN" sz="1200" kern="1200" dirty="0" err="1">
                <a:solidFill>
                  <a:schemeClr val="tx1"/>
                </a:solidFill>
                <a:effectLst/>
                <a:latin typeface="+mn-lt"/>
                <a:ea typeface="+mn-ea"/>
                <a:cs typeface="+mn-cs"/>
              </a:rPr>
              <a:t>app.routes.ts</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import { Routes, </a:t>
            </a:r>
            <a:r>
              <a:rPr lang="en-IN" sz="1200" kern="1200" dirty="0" err="1">
                <a:solidFill>
                  <a:schemeClr val="tx1"/>
                </a:solidFill>
                <a:effectLst/>
                <a:latin typeface="+mn-lt"/>
                <a:ea typeface="+mn-ea"/>
                <a:cs typeface="+mn-cs"/>
              </a:rPr>
              <a:t>CanActivate</a:t>
            </a:r>
            <a:r>
              <a:rPr lang="en-IN" sz="1200" kern="1200" dirty="0">
                <a:solidFill>
                  <a:schemeClr val="tx1"/>
                </a:solidFill>
                <a:effectLst/>
                <a:latin typeface="+mn-lt"/>
                <a:ea typeface="+mn-ea"/>
                <a:cs typeface="+mn-cs"/>
              </a:rPr>
              <a:t> } from '@angular/router';</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import { </a:t>
            </a:r>
            <a:r>
              <a:rPr lang="en-IN" sz="1200" kern="1200" dirty="0" err="1">
                <a:solidFill>
                  <a:schemeClr val="tx1"/>
                </a:solidFill>
                <a:effectLst/>
                <a:latin typeface="+mn-lt"/>
                <a:ea typeface="+mn-ea"/>
                <a:cs typeface="+mn-cs"/>
              </a:rPr>
              <a:t>ProfileComponent</a:t>
            </a:r>
            <a:r>
              <a:rPr lang="en-IN" sz="1200" kern="1200" dirty="0">
                <a:solidFill>
                  <a:schemeClr val="tx1"/>
                </a:solidFill>
                <a:effectLst/>
                <a:latin typeface="+mn-lt"/>
                <a:ea typeface="+mn-ea"/>
                <a:cs typeface="+mn-cs"/>
              </a:rPr>
              <a:t> } from './profile/</a:t>
            </a:r>
            <a:r>
              <a:rPr lang="en-IN" sz="1200" kern="1200" dirty="0" err="1">
                <a:solidFill>
                  <a:schemeClr val="tx1"/>
                </a:solidFill>
                <a:effectLst/>
                <a:latin typeface="+mn-lt"/>
                <a:ea typeface="+mn-ea"/>
                <a:cs typeface="+mn-cs"/>
              </a:rPr>
              <a:t>profile.component</a:t>
            </a:r>
            <a:r>
              <a:rPr lang="en-IN" sz="1200" kern="1200" dirty="0">
                <a:solidFill>
                  <a:schemeClr val="tx1"/>
                </a:solidFill>
                <a:effectLst/>
                <a:latin typeface="+mn-lt"/>
                <a:ea typeface="+mn-ea"/>
                <a:cs typeface="+mn-cs"/>
              </a:rPr>
              <a:t>';</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import {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AuthGuardService</a:t>
            </a:r>
            <a:r>
              <a:rPr lang="en-IN" sz="1200" kern="1200" dirty="0">
                <a:solidFill>
                  <a:schemeClr val="tx1"/>
                </a:solidFill>
                <a:effectLst/>
                <a:latin typeface="+mn-lt"/>
                <a:ea typeface="+mn-ea"/>
                <a:cs typeface="+mn-cs"/>
              </a:rPr>
              <a:t> as </a:t>
            </a:r>
            <a:r>
              <a:rPr lang="en-IN" sz="1200" kern="1200" dirty="0" err="1">
                <a:solidFill>
                  <a:schemeClr val="tx1"/>
                </a:solidFill>
                <a:effectLst/>
                <a:latin typeface="+mn-lt"/>
                <a:ea typeface="+mn-ea"/>
                <a:cs typeface="+mn-cs"/>
              </a:rPr>
              <a:t>AuthGuard</a:t>
            </a:r>
            <a:r>
              <a:rPr lang="en-IN" sz="1200" kern="1200" dirty="0">
                <a:solidFill>
                  <a:schemeClr val="tx1"/>
                </a:solidFill>
                <a:effectLst/>
                <a:latin typeface="+mn-lt"/>
                <a:ea typeface="+mn-ea"/>
                <a:cs typeface="+mn-cs"/>
              </a:rPr>
              <a:t>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from './auth/auth-</a:t>
            </a:r>
            <a:r>
              <a:rPr lang="en-IN" sz="1200" kern="1200" dirty="0" err="1">
                <a:solidFill>
                  <a:schemeClr val="tx1"/>
                </a:solidFill>
                <a:effectLst/>
                <a:latin typeface="+mn-lt"/>
                <a:ea typeface="+mn-ea"/>
                <a:cs typeface="+mn-cs"/>
              </a:rPr>
              <a:t>guard.service</a:t>
            </a:r>
            <a:r>
              <a:rPr lang="en-IN" sz="1200"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export </a:t>
            </a:r>
            <a:r>
              <a:rPr lang="en-IN" sz="1200" kern="1200" dirty="0" err="1">
                <a:solidFill>
                  <a:schemeClr val="tx1"/>
                </a:solidFill>
                <a:effectLst/>
                <a:latin typeface="+mn-lt"/>
                <a:ea typeface="+mn-ea"/>
                <a:cs typeface="+mn-cs"/>
              </a:rPr>
              <a:t>const</a:t>
            </a:r>
            <a:r>
              <a:rPr lang="en-IN" sz="1200" kern="1200" dirty="0">
                <a:solidFill>
                  <a:schemeClr val="tx1"/>
                </a:solidFill>
                <a:effectLst/>
                <a:latin typeface="+mn-lt"/>
                <a:ea typeface="+mn-ea"/>
                <a:cs typeface="+mn-cs"/>
              </a:rPr>
              <a:t> ROUTES: Routes =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 path: '', component: </a:t>
            </a:r>
            <a:r>
              <a:rPr lang="en-IN" sz="1200" kern="1200" dirty="0" err="1">
                <a:solidFill>
                  <a:schemeClr val="tx1"/>
                </a:solidFill>
                <a:effectLst/>
                <a:latin typeface="+mn-lt"/>
                <a:ea typeface="+mn-ea"/>
                <a:cs typeface="+mn-cs"/>
              </a:rPr>
              <a:t>HomeComponent</a:t>
            </a:r>
            <a:r>
              <a:rPr lang="en-IN" sz="1200" kern="1200" dirty="0">
                <a:solidFill>
                  <a:schemeClr val="tx1"/>
                </a:solidFill>
                <a:effectLst/>
                <a:latin typeface="+mn-lt"/>
                <a:ea typeface="+mn-ea"/>
                <a:cs typeface="+mn-cs"/>
              </a:rPr>
              <a:t>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path: 'profile',</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component: </a:t>
            </a:r>
            <a:r>
              <a:rPr lang="en-IN" sz="1200" kern="1200" dirty="0" err="1">
                <a:solidFill>
                  <a:schemeClr val="tx1"/>
                </a:solidFill>
                <a:effectLst/>
                <a:latin typeface="+mn-lt"/>
                <a:ea typeface="+mn-ea"/>
                <a:cs typeface="+mn-cs"/>
              </a:rPr>
              <a:t>ProfileComponent</a:t>
            </a:r>
            <a:r>
              <a:rPr lang="en-IN" sz="1200" kern="1200" dirty="0">
                <a:solidFill>
                  <a:schemeClr val="tx1"/>
                </a:solidFill>
                <a:effectLst/>
                <a:latin typeface="+mn-lt"/>
                <a:ea typeface="+mn-ea"/>
                <a:cs typeface="+mn-cs"/>
              </a:rPr>
              <a:t>,</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canActivate</a:t>
            </a: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AuthGuard</a:t>
            </a:r>
            <a:r>
              <a:rPr lang="en-IN" sz="1200" kern="1200" dirty="0">
                <a:solidFill>
                  <a:schemeClr val="tx1"/>
                </a:solidFill>
                <a:effectLst/>
                <a:latin typeface="+mn-lt"/>
                <a:ea typeface="+mn-ea"/>
                <a:cs typeface="+mn-cs"/>
              </a:rPr>
              <a:t>]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 path: '**', </a:t>
            </a:r>
            <a:r>
              <a:rPr lang="en-IN" sz="1200" kern="1200" dirty="0" err="1">
                <a:solidFill>
                  <a:schemeClr val="tx1"/>
                </a:solidFill>
                <a:effectLst/>
                <a:latin typeface="+mn-lt"/>
                <a:ea typeface="+mn-ea"/>
                <a:cs typeface="+mn-cs"/>
              </a:rPr>
              <a:t>redirectTo</a:t>
            </a:r>
            <a:r>
              <a:rPr lang="en-IN" sz="1200" kern="1200" dirty="0">
                <a:solidFill>
                  <a:schemeClr val="tx1"/>
                </a:solidFill>
                <a:effectLst/>
                <a:latin typeface="+mn-lt"/>
                <a:ea typeface="+mn-ea"/>
                <a:cs typeface="+mn-cs"/>
              </a:rPr>
              <a:t>: ''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/profile route has an extra config value now: </a:t>
            </a:r>
            <a:r>
              <a:rPr lang="en-US" sz="1200" kern="1200" dirty="0" err="1">
                <a:solidFill>
                  <a:schemeClr val="tx1"/>
                </a:solidFill>
                <a:effectLst/>
                <a:latin typeface="+mn-lt"/>
                <a:ea typeface="+mn-ea"/>
                <a:cs typeface="+mn-cs"/>
              </a:rPr>
              <a:t>canActivate</a:t>
            </a:r>
            <a:r>
              <a:rPr lang="en-US" sz="1200" kern="1200" dirty="0">
                <a:solidFill>
                  <a:schemeClr val="tx1"/>
                </a:solidFill>
                <a:effectLst/>
                <a:latin typeface="+mn-lt"/>
                <a:ea typeface="+mn-ea"/>
                <a:cs typeface="+mn-cs"/>
              </a:rPr>
              <a:t>. The </a:t>
            </a:r>
            <a:r>
              <a:rPr lang="en-US" sz="1200" kern="1200" dirty="0" err="1">
                <a:solidFill>
                  <a:schemeClr val="tx1"/>
                </a:solidFill>
                <a:effectLst/>
                <a:latin typeface="+mn-lt"/>
                <a:ea typeface="+mn-ea"/>
                <a:cs typeface="+mn-cs"/>
              </a:rPr>
              <a:t>AuthGuard</a:t>
            </a:r>
            <a:r>
              <a:rPr lang="en-US" sz="1200" kern="1200" dirty="0">
                <a:solidFill>
                  <a:schemeClr val="tx1"/>
                </a:solidFill>
                <a:effectLst/>
                <a:latin typeface="+mn-lt"/>
                <a:ea typeface="+mn-ea"/>
                <a:cs typeface="+mn-cs"/>
              </a:rPr>
              <a:t> that was created above is passed to an array for </a:t>
            </a:r>
            <a:r>
              <a:rPr lang="en-US" sz="1200" kern="1200" dirty="0" err="1">
                <a:solidFill>
                  <a:schemeClr val="tx1"/>
                </a:solidFill>
                <a:effectLst/>
                <a:latin typeface="+mn-lt"/>
                <a:ea typeface="+mn-ea"/>
                <a:cs typeface="+mn-cs"/>
              </a:rPr>
              <a:t>canActivatewhich</a:t>
            </a:r>
            <a:r>
              <a:rPr lang="en-US" sz="1200" kern="1200" dirty="0">
                <a:solidFill>
                  <a:schemeClr val="tx1"/>
                </a:solidFill>
                <a:effectLst/>
                <a:latin typeface="+mn-lt"/>
                <a:ea typeface="+mn-ea"/>
                <a:cs typeface="+mn-cs"/>
              </a:rPr>
              <a:t> means it will be run any time someone tries to access the /</a:t>
            </a:r>
            <a:r>
              <a:rPr lang="en-US" sz="1200" kern="1200" dirty="0" err="1">
                <a:solidFill>
                  <a:schemeClr val="tx1"/>
                </a:solidFill>
                <a:effectLst/>
                <a:latin typeface="+mn-lt"/>
                <a:ea typeface="+mn-ea"/>
                <a:cs typeface="+mn-cs"/>
              </a:rPr>
              <a:t>profileroute</a:t>
            </a:r>
            <a:r>
              <a:rPr lang="en-US" sz="1200" kern="1200" dirty="0">
                <a:solidFill>
                  <a:schemeClr val="tx1"/>
                </a:solidFill>
                <a:effectLst/>
                <a:latin typeface="+mn-lt"/>
                <a:ea typeface="+mn-ea"/>
                <a:cs typeface="+mn-cs"/>
              </a:rPr>
              <a:t>. If the user is authenticated, they get to the route. If not, they are redirected to the /login route.</a:t>
            </a:r>
          </a:p>
          <a:p>
            <a:r>
              <a:rPr lang="en-IN" sz="1200" kern="1200" dirty="0">
                <a:solidFill>
                  <a:schemeClr val="tx1"/>
                </a:solidFill>
                <a:effectLst/>
                <a:latin typeface="+mn-lt"/>
                <a:ea typeface="+mn-ea"/>
                <a:cs typeface="+mn-cs"/>
              </a:rPr>
              <a:t>Note: The </a:t>
            </a:r>
            <a:r>
              <a:rPr lang="en-IN" sz="1200" kern="1200" dirty="0" err="1">
                <a:solidFill>
                  <a:schemeClr val="tx1"/>
                </a:solidFill>
                <a:effectLst/>
                <a:latin typeface="+mn-lt"/>
                <a:ea typeface="+mn-ea"/>
                <a:cs typeface="+mn-cs"/>
              </a:rPr>
              <a:t>canActivate</a:t>
            </a:r>
            <a:r>
              <a:rPr lang="en-IN" sz="1200" kern="1200" dirty="0">
                <a:solidFill>
                  <a:schemeClr val="tx1"/>
                </a:solidFill>
                <a:effectLst/>
                <a:latin typeface="+mn-lt"/>
                <a:ea typeface="+mn-ea"/>
                <a:cs typeface="+mn-cs"/>
              </a:rPr>
              <a:t> guard still allows the component for a given route to be activated (but not navigated to). If we wanted to prevent activation altogether, we could use the </a:t>
            </a:r>
            <a:r>
              <a:rPr lang="en-IN" sz="1200" kern="1200" dirty="0" err="1">
                <a:solidFill>
                  <a:schemeClr val="tx1"/>
                </a:solidFill>
                <a:effectLst/>
                <a:latin typeface="+mn-lt"/>
                <a:ea typeface="+mn-ea"/>
                <a:cs typeface="+mn-cs"/>
              </a:rPr>
              <a:t>canLoad</a:t>
            </a:r>
            <a:r>
              <a:rPr lang="en-IN" sz="1200" kern="1200" dirty="0">
                <a:solidFill>
                  <a:schemeClr val="tx1"/>
                </a:solidFill>
                <a:effectLst/>
                <a:latin typeface="+mn-lt"/>
                <a:ea typeface="+mn-ea"/>
                <a:cs typeface="+mn-cs"/>
              </a:rPr>
              <a:t> guard.</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88EF01D5-93D0-4CAB-8178-D27CE2280C1B}" type="slidenum">
              <a:rPr lang="en-US" smtClean="0"/>
              <a:t>5</a:t>
            </a:fld>
            <a:endParaRPr lang="en-US"/>
          </a:p>
        </p:txBody>
      </p:sp>
    </p:spTree>
    <p:extLst>
      <p:ext uri="{BB962C8B-B14F-4D97-AF65-F5344CB8AC3E}">
        <p14:creationId xmlns:p14="http://schemas.microsoft.com/office/powerpoint/2010/main" val="929232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Create a new guard service called </a:t>
            </a:r>
            <a:r>
              <a:rPr lang="en-US" sz="1200" kern="1200" dirty="0" err="1">
                <a:solidFill>
                  <a:schemeClr val="tx1"/>
                </a:solidFill>
                <a:effectLst/>
                <a:latin typeface="+mn-lt"/>
                <a:ea typeface="+mn-ea"/>
                <a:cs typeface="+mn-cs"/>
              </a:rPr>
              <a:t>RoleGuardService</a:t>
            </a:r>
            <a:r>
              <a:rPr lang="en-US" sz="1200" kern="1200" dirty="0">
                <a:solidFill>
                  <a:schemeClr val="tx1"/>
                </a:solidFill>
                <a:effectLst/>
                <a:latin typeface="+mn-lt"/>
                <a:ea typeface="+mn-ea"/>
                <a:cs typeface="+mn-cs"/>
              </a:rPr>
              <a:t>.</a:t>
            </a:r>
          </a:p>
          <a:p>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src</a:t>
            </a:r>
            <a:r>
              <a:rPr lang="en-IN" sz="1200" kern="1200" dirty="0">
                <a:solidFill>
                  <a:schemeClr val="tx1"/>
                </a:solidFill>
                <a:effectLst/>
                <a:latin typeface="+mn-lt"/>
                <a:ea typeface="+mn-ea"/>
                <a:cs typeface="+mn-cs"/>
              </a:rPr>
              <a:t>/app/auth/role-</a:t>
            </a:r>
            <a:r>
              <a:rPr lang="en-IN" sz="1200" kern="1200" dirty="0" err="1">
                <a:solidFill>
                  <a:schemeClr val="tx1"/>
                </a:solidFill>
                <a:effectLst/>
                <a:latin typeface="+mn-lt"/>
                <a:ea typeface="+mn-ea"/>
                <a:cs typeface="+mn-cs"/>
              </a:rPr>
              <a:t>guard.service.ts</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import { Injectable } from '@angular/core';</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import {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Router,</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CanActivate</a:t>
            </a:r>
            <a:r>
              <a:rPr lang="en-IN" sz="1200" kern="1200" dirty="0">
                <a:solidFill>
                  <a:schemeClr val="tx1"/>
                </a:solidFill>
                <a:effectLst/>
                <a:latin typeface="+mn-lt"/>
                <a:ea typeface="+mn-ea"/>
                <a:cs typeface="+mn-cs"/>
              </a:rPr>
              <a:t>,</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ActivatedRouteSnapshot</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from '@angular/router';</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import { </a:t>
            </a:r>
            <a:r>
              <a:rPr lang="en-IN" sz="1200" kern="1200" dirty="0" err="1">
                <a:solidFill>
                  <a:schemeClr val="tx1"/>
                </a:solidFill>
                <a:effectLst/>
                <a:latin typeface="+mn-lt"/>
                <a:ea typeface="+mn-ea"/>
                <a:cs typeface="+mn-cs"/>
              </a:rPr>
              <a:t>AuthService</a:t>
            </a:r>
            <a:r>
              <a:rPr lang="en-IN" sz="1200" kern="1200" dirty="0">
                <a:solidFill>
                  <a:schemeClr val="tx1"/>
                </a:solidFill>
                <a:effectLst/>
                <a:latin typeface="+mn-lt"/>
                <a:ea typeface="+mn-ea"/>
                <a:cs typeface="+mn-cs"/>
              </a:rPr>
              <a:t> } from './</a:t>
            </a:r>
            <a:r>
              <a:rPr lang="en-IN" sz="1200" kern="1200" dirty="0" err="1">
                <a:solidFill>
                  <a:schemeClr val="tx1"/>
                </a:solidFill>
                <a:effectLst/>
                <a:latin typeface="+mn-lt"/>
                <a:ea typeface="+mn-ea"/>
                <a:cs typeface="+mn-cs"/>
              </a:rPr>
              <a:t>auth.service</a:t>
            </a:r>
            <a:r>
              <a:rPr lang="en-IN" sz="1200" kern="1200" dirty="0">
                <a:solidFill>
                  <a:schemeClr val="tx1"/>
                </a:solidFill>
                <a:effectLst/>
                <a:latin typeface="+mn-lt"/>
                <a:ea typeface="+mn-ea"/>
                <a:cs typeface="+mn-cs"/>
              </a:rPr>
              <a:t>';</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import decode from '</a:t>
            </a:r>
            <a:r>
              <a:rPr lang="en-IN" sz="1200" kern="1200" dirty="0" err="1">
                <a:solidFill>
                  <a:schemeClr val="tx1"/>
                </a:solidFill>
                <a:effectLst/>
                <a:latin typeface="+mn-lt"/>
                <a:ea typeface="+mn-ea"/>
                <a:cs typeface="+mn-cs"/>
              </a:rPr>
              <a:t>jwt</a:t>
            </a:r>
            <a:r>
              <a:rPr lang="en-IN" sz="1200" kern="1200" dirty="0">
                <a:solidFill>
                  <a:schemeClr val="tx1"/>
                </a:solidFill>
                <a:effectLst/>
                <a:latin typeface="+mn-lt"/>
                <a:ea typeface="+mn-ea"/>
                <a:cs typeface="+mn-cs"/>
              </a:rPr>
              <a:t>-decode';</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@Injectable()</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export class </a:t>
            </a:r>
            <a:r>
              <a:rPr lang="en-IN" sz="1200" kern="1200" dirty="0" err="1">
                <a:solidFill>
                  <a:schemeClr val="tx1"/>
                </a:solidFill>
                <a:effectLst/>
                <a:latin typeface="+mn-lt"/>
                <a:ea typeface="+mn-ea"/>
                <a:cs typeface="+mn-cs"/>
              </a:rPr>
              <a:t>RoleGuardService</a:t>
            </a:r>
            <a:r>
              <a:rPr lang="en-IN" sz="1200" kern="1200" dirty="0">
                <a:solidFill>
                  <a:schemeClr val="tx1"/>
                </a:solidFill>
                <a:effectLst/>
                <a:latin typeface="+mn-lt"/>
                <a:ea typeface="+mn-ea"/>
                <a:cs typeface="+mn-cs"/>
              </a:rPr>
              <a:t> implements </a:t>
            </a:r>
            <a:r>
              <a:rPr lang="en-IN" sz="1200" kern="1200" dirty="0" err="1">
                <a:solidFill>
                  <a:schemeClr val="tx1"/>
                </a:solidFill>
                <a:effectLst/>
                <a:latin typeface="+mn-lt"/>
                <a:ea typeface="+mn-ea"/>
                <a:cs typeface="+mn-cs"/>
              </a:rPr>
              <a:t>CanActivate</a:t>
            </a:r>
            <a:r>
              <a:rPr lang="en-IN"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  constructor(public auth: </a:t>
            </a:r>
            <a:r>
              <a:rPr lang="en-IN" sz="1200" kern="1200" dirty="0" err="1">
                <a:solidFill>
                  <a:schemeClr val="tx1"/>
                </a:solidFill>
                <a:effectLst/>
                <a:latin typeface="+mn-lt"/>
                <a:ea typeface="+mn-ea"/>
                <a:cs typeface="+mn-cs"/>
              </a:rPr>
              <a:t>AuthService</a:t>
            </a:r>
            <a:r>
              <a:rPr lang="en-IN" sz="1200" kern="1200" dirty="0">
                <a:solidFill>
                  <a:schemeClr val="tx1"/>
                </a:solidFill>
                <a:effectLst/>
                <a:latin typeface="+mn-lt"/>
                <a:ea typeface="+mn-ea"/>
                <a:cs typeface="+mn-cs"/>
              </a:rPr>
              <a:t>, public router: Router) {}</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canActivate</a:t>
            </a:r>
            <a:r>
              <a:rPr lang="en-IN" sz="1200" kern="1200" dirty="0">
                <a:solidFill>
                  <a:schemeClr val="tx1"/>
                </a:solidFill>
                <a:effectLst/>
                <a:latin typeface="+mn-lt"/>
                <a:ea typeface="+mn-ea"/>
                <a:cs typeface="+mn-cs"/>
              </a:rPr>
              <a:t>(route: </a:t>
            </a:r>
            <a:r>
              <a:rPr lang="en-IN" sz="1200" kern="1200" dirty="0" err="1">
                <a:solidFill>
                  <a:schemeClr val="tx1"/>
                </a:solidFill>
                <a:effectLst/>
                <a:latin typeface="+mn-lt"/>
                <a:ea typeface="+mn-ea"/>
                <a:cs typeface="+mn-cs"/>
              </a:rPr>
              <a:t>ActivatedRouteSnapshot</a:t>
            </a: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boolean</a:t>
            </a:r>
            <a:r>
              <a:rPr lang="en-IN"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    // this will be passed from the route config</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 on the data property</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const</a:t>
            </a: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expectedRole</a:t>
            </a:r>
            <a:r>
              <a:rPr lang="en-IN" sz="1200" kern="1200" dirty="0">
                <a:solidFill>
                  <a:schemeClr val="tx1"/>
                </a:solidFill>
                <a:effectLst/>
                <a:latin typeface="+mn-lt"/>
                <a:ea typeface="+mn-ea"/>
                <a:cs typeface="+mn-cs"/>
              </a:rPr>
              <a:t> = </a:t>
            </a:r>
            <a:r>
              <a:rPr lang="en-IN" sz="1200" kern="1200" dirty="0" err="1">
                <a:solidFill>
                  <a:schemeClr val="tx1"/>
                </a:solidFill>
                <a:effectLst/>
                <a:latin typeface="+mn-lt"/>
                <a:ea typeface="+mn-ea"/>
                <a:cs typeface="+mn-cs"/>
              </a:rPr>
              <a:t>route.data.expectedRole</a:t>
            </a:r>
            <a:r>
              <a:rPr lang="en-IN" sz="1200"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const</a:t>
            </a:r>
            <a:r>
              <a:rPr lang="en-IN" sz="1200" kern="1200" dirty="0">
                <a:solidFill>
                  <a:schemeClr val="tx1"/>
                </a:solidFill>
                <a:effectLst/>
                <a:latin typeface="+mn-lt"/>
                <a:ea typeface="+mn-ea"/>
                <a:cs typeface="+mn-cs"/>
              </a:rPr>
              <a:t> token = </a:t>
            </a:r>
            <a:r>
              <a:rPr lang="en-IN" sz="1200" kern="1200" dirty="0" err="1">
                <a:solidFill>
                  <a:schemeClr val="tx1"/>
                </a:solidFill>
                <a:effectLst/>
                <a:latin typeface="+mn-lt"/>
                <a:ea typeface="+mn-ea"/>
                <a:cs typeface="+mn-cs"/>
              </a:rPr>
              <a:t>localStorage.getItem</a:t>
            </a:r>
            <a:r>
              <a:rPr lang="en-IN" sz="1200" kern="1200" dirty="0">
                <a:solidFill>
                  <a:schemeClr val="tx1"/>
                </a:solidFill>
                <a:effectLst/>
                <a:latin typeface="+mn-lt"/>
                <a:ea typeface="+mn-ea"/>
                <a:cs typeface="+mn-cs"/>
              </a:rPr>
              <a:t>('token');</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    // decode the token to get its payload</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const</a:t>
            </a: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tokenPayload</a:t>
            </a:r>
            <a:r>
              <a:rPr lang="en-IN" sz="1200" kern="1200" dirty="0">
                <a:solidFill>
                  <a:schemeClr val="tx1"/>
                </a:solidFill>
                <a:effectLst/>
                <a:latin typeface="+mn-lt"/>
                <a:ea typeface="+mn-ea"/>
                <a:cs typeface="+mn-cs"/>
              </a:rPr>
              <a:t> = decode(token);</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    if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this.auth.isAuthenticated</a:t>
            </a:r>
            <a:r>
              <a:rPr lang="en-IN" sz="1200" kern="1200" dirty="0">
                <a:solidFill>
                  <a:schemeClr val="tx1"/>
                </a:solidFill>
                <a:effectLst/>
                <a:latin typeface="+mn-lt"/>
                <a:ea typeface="+mn-ea"/>
                <a:cs typeface="+mn-cs"/>
              </a:rPr>
              <a:t>() ||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tokenPayload.role</a:t>
            </a:r>
            <a:r>
              <a:rPr lang="en-IN" sz="1200" kern="1200" dirty="0">
                <a:solidFill>
                  <a:schemeClr val="tx1"/>
                </a:solidFill>
                <a:effectLst/>
                <a:latin typeface="+mn-lt"/>
                <a:ea typeface="+mn-ea"/>
                <a:cs typeface="+mn-cs"/>
              </a:rPr>
              <a:t> !== </a:t>
            </a:r>
            <a:r>
              <a:rPr lang="en-IN" sz="1200" kern="1200" dirty="0" err="1">
                <a:solidFill>
                  <a:schemeClr val="tx1"/>
                </a:solidFill>
                <a:effectLst/>
                <a:latin typeface="+mn-lt"/>
                <a:ea typeface="+mn-ea"/>
                <a:cs typeface="+mn-cs"/>
              </a:rPr>
              <a:t>expectedRole</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this.router.navigate</a:t>
            </a:r>
            <a:r>
              <a:rPr lang="en-IN" sz="1200" kern="1200" dirty="0">
                <a:solidFill>
                  <a:schemeClr val="tx1"/>
                </a:solidFill>
                <a:effectLst/>
                <a:latin typeface="+mn-lt"/>
                <a:ea typeface="+mn-ea"/>
                <a:cs typeface="+mn-cs"/>
              </a:rPr>
              <a:t>(['login']);</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return false;</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return true;</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88EF01D5-93D0-4CAB-8178-D27CE2280C1B}" type="slidenum">
              <a:rPr lang="en-US" smtClean="0"/>
              <a:t>6</a:t>
            </a:fld>
            <a:endParaRPr lang="en-US"/>
          </a:p>
        </p:txBody>
      </p:sp>
    </p:spTree>
    <p:extLst>
      <p:ext uri="{BB962C8B-B14F-4D97-AF65-F5344CB8AC3E}">
        <p14:creationId xmlns:p14="http://schemas.microsoft.com/office/powerpoint/2010/main" val="3977718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In this guard we’re using </a:t>
            </a:r>
            <a:r>
              <a:rPr lang="en-IN" sz="1200" kern="1200" dirty="0" err="1">
                <a:solidFill>
                  <a:schemeClr val="tx1"/>
                </a:solidFill>
                <a:effectLst/>
                <a:latin typeface="+mn-lt"/>
                <a:ea typeface="+mn-ea"/>
                <a:cs typeface="+mn-cs"/>
              </a:rPr>
              <a:t>ActivatedRouteSnapshot</a:t>
            </a:r>
            <a:r>
              <a:rPr lang="en-IN" sz="1200" kern="1200" dirty="0">
                <a:solidFill>
                  <a:schemeClr val="tx1"/>
                </a:solidFill>
                <a:effectLst/>
                <a:latin typeface="+mn-lt"/>
                <a:ea typeface="+mn-ea"/>
                <a:cs typeface="+mn-cs"/>
              </a:rPr>
              <a:t> to give us access to the data property for a given route. This data property is useful because we can pass an object with some custom properties to it from our route configuration. We can then pick up that custom data in the guard to help with making routing decisions.</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In this case we’re looking for a role that we expect the user to have if they are to be allowed access to the route. Next we are decoding the token to grab its payload. If the user isn’t authenticated </a:t>
            </a:r>
            <a:r>
              <a:rPr lang="en-IN" sz="1200" b="1" kern="1200" dirty="0">
                <a:solidFill>
                  <a:schemeClr val="tx1"/>
                </a:solidFill>
                <a:effectLst/>
                <a:latin typeface="+mn-lt"/>
                <a:ea typeface="+mn-ea"/>
                <a:cs typeface="+mn-cs"/>
              </a:rPr>
              <a:t>or</a:t>
            </a:r>
            <a:r>
              <a:rPr lang="en-IN" sz="1200" kern="1200" dirty="0">
                <a:solidFill>
                  <a:schemeClr val="tx1"/>
                </a:solidFill>
                <a:effectLst/>
                <a:latin typeface="+mn-lt"/>
                <a:ea typeface="+mn-ea"/>
                <a:cs typeface="+mn-cs"/>
              </a:rPr>
              <a:t> if they don’t have the role we expect them to have in their token payload, we cancel navigation and have them log in. Otherwise, they are free to proceed.</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We can now use this </a:t>
            </a:r>
            <a:r>
              <a:rPr lang="en-IN" sz="1200" kern="1200" dirty="0" err="1">
                <a:solidFill>
                  <a:schemeClr val="tx1"/>
                </a:solidFill>
                <a:effectLst/>
                <a:latin typeface="+mn-lt"/>
                <a:ea typeface="+mn-ea"/>
                <a:cs typeface="+mn-cs"/>
              </a:rPr>
              <a:t>RoleGuardService</a:t>
            </a:r>
            <a:r>
              <a:rPr lang="en-IN" sz="1200" kern="1200" dirty="0">
                <a:solidFill>
                  <a:schemeClr val="tx1"/>
                </a:solidFill>
                <a:effectLst/>
                <a:latin typeface="+mn-lt"/>
                <a:ea typeface="+mn-ea"/>
                <a:cs typeface="+mn-cs"/>
              </a:rPr>
              <a:t> for any of our routes. We might, for example, want to protect an /admin route.</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src</a:t>
            </a:r>
            <a:r>
              <a:rPr lang="en-IN" sz="1200" kern="1200" dirty="0">
                <a:solidFill>
                  <a:schemeClr val="tx1"/>
                </a:solidFill>
                <a:effectLst/>
                <a:latin typeface="+mn-lt"/>
                <a:ea typeface="+mn-ea"/>
                <a:cs typeface="+mn-cs"/>
              </a:rPr>
              <a:t>/app/</a:t>
            </a:r>
            <a:r>
              <a:rPr lang="en-IN" sz="1200" kern="1200" dirty="0" err="1">
                <a:solidFill>
                  <a:schemeClr val="tx1"/>
                </a:solidFill>
                <a:effectLst/>
                <a:latin typeface="+mn-lt"/>
                <a:ea typeface="+mn-ea"/>
                <a:cs typeface="+mn-cs"/>
              </a:rPr>
              <a:t>app.routes.ts</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import { Routes, </a:t>
            </a:r>
            <a:r>
              <a:rPr lang="en-IN" sz="1200" kern="1200" dirty="0" err="1">
                <a:solidFill>
                  <a:schemeClr val="tx1"/>
                </a:solidFill>
                <a:effectLst/>
                <a:latin typeface="+mn-lt"/>
                <a:ea typeface="+mn-ea"/>
                <a:cs typeface="+mn-cs"/>
              </a:rPr>
              <a:t>CanActivate</a:t>
            </a:r>
            <a:r>
              <a:rPr lang="en-IN" sz="1200" kern="1200" dirty="0">
                <a:solidFill>
                  <a:schemeClr val="tx1"/>
                </a:solidFill>
                <a:effectLst/>
                <a:latin typeface="+mn-lt"/>
                <a:ea typeface="+mn-ea"/>
                <a:cs typeface="+mn-cs"/>
              </a:rPr>
              <a:t> } from '@angular/router';</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import { </a:t>
            </a:r>
            <a:r>
              <a:rPr lang="en-IN" sz="1200" kern="1200" dirty="0" err="1">
                <a:solidFill>
                  <a:schemeClr val="tx1"/>
                </a:solidFill>
                <a:effectLst/>
                <a:latin typeface="+mn-lt"/>
                <a:ea typeface="+mn-ea"/>
                <a:cs typeface="+mn-cs"/>
              </a:rPr>
              <a:t>ProfileComponent</a:t>
            </a:r>
            <a:r>
              <a:rPr lang="en-IN" sz="1200" kern="1200" dirty="0">
                <a:solidFill>
                  <a:schemeClr val="tx1"/>
                </a:solidFill>
                <a:effectLst/>
                <a:latin typeface="+mn-lt"/>
                <a:ea typeface="+mn-ea"/>
                <a:cs typeface="+mn-cs"/>
              </a:rPr>
              <a:t> } from './profile/</a:t>
            </a:r>
            <a:r>
              <a:rPr lang="en-IN" sz="1200" kern="1200" dirty="0" err="1">
                <a:solidFill>
                  <a:schemeClr val="tx1"/>
                </a:solidFill>
                <a:effectLst/>
                <a:latin typeface="+mn-lt"/>
                <a:ea typeface="+mn-ea"/>
                <a:cs typeface="+mn-cs"/>
              </a:rPr>
              <a:t>profile.component</a:t>
            </a:r>
            <a:r>
              <a:rPr lang="en-IN" sz="1200" kern="1200" dirty="0">
                <a:solidFill>
                  <a:schemeClr val="tx1"/>
                </a:solidFill>
                <a:effectLst/>
                <a:latin typeface="+mn-lt"/>
                <a:ea typeface="+mn-ea"/>
                <a:cs typeface="+mn-cs"/>
              </a:rPr>
              <a:t>';</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import {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AuthGuardService</a:t>
            </a:r>
            <a:r>
              <a:rPr lang="en-IN" sz="1200" kern="1200" dirty="0">
                <a:solidFill>
                  <a:schemeClr val="tx1"/>
                </a:solidFill>
                <a:effectLst/>
                <a:latin typeface="+mn-lt"/>
                <a:ea typeface="+mn-ea"/>
                <a:cs typeface="+mn-cs"/>
              </a:rPr>
              <a:t> as </a:t>
            </a:r>
            <a:r>
              <a:rPr lang="en-IN" sz="1200" kern="1200" dirty="0" err="1">
                <a:solidFill>
                  <a:schemeClr val="tx1"/>
                </a:solidFill>
                <a:effectLst/>
                <a:latin typeface="+mn-lt"/>
                <a:ea typeface="+mn-ea"/>
                <a:cs typeface="+mn-cs"/>
              </a:rPr>
              <a:t>AuthGuard</a:t>
            </a:r>
            <a:r>
              <a:rPr lang="en-IN" sz="1200" kern="1200" dirty="0">
                <a:solidFill>
                  <a:schemeClr val="tx1"/>
                </a:solidFill>
                <a:effectLst/>
                <a:latin typeface="+mn-lt"/>
                <a:ea typeface="+mn-ea"/>
                <a:cs typeface="+mn-cs"/>
              </a:rPr>
              <a:t>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from './auth/auth-</a:t>
            </a:r>
            <a:r>
              <a:rPr lang="en-IN" sz="1200" kern="1200" dirty="0" err="1">
                <a:solidFill>
                  <a:schemeClr val="tx1"/>
                </a:solidFill>
                <a:effectLst/>
                <a:latin typeface="+mn-lt"/>
                <a:ea typeface="+mn-ea"/>
                <a:cs typeface="+mn-cs"/>
              </a:rPr>
              <a:t>guard.service</a:t>
            </a:r>
            <a:r>
              <a:rPr lang="en-IN" sz="1200" kern="1200" dirty="0">
                <a:solidFill>
                  <a:schemeClr val="tx1"/>
                </a:solidFill>
                <a:effectLst/>
                <a:latin typeface="+mn-lt"/>
                <a:ea typeface="+mn-ea"/>
                <a:cs typeface="+mn-cs"/>
              </a:rPr>
              <a:t>';</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import {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RoleGuardService</a:t>
            </a:r>
            <a:r>
              <a:rPr lang="en-IN" sz="1200" kern="1200" dirty="0">
                <a:solidFill>
                  <a:schemeClr val="tx1"/>
                </a:solidFill>
                <a:effectLst/>
                <a:latin typeface="+mn-lt"/>
                <a:ea typeface="+mn-ea"/>
                <a:cs typeface="+mn-cs"/>
              </a:rPr>
              <a:t> as </a:t>
            </a:r>
            <a:r>
              <a:rPr lang="en-IN" sz="1200" kern="1200" dirty="0" err="1">
                <a:solidFill>
                  <a:schemeClr val="tx1"/>
                </a:solidFill>
                <a:effectLst/>
                <a:latin typeface="+mn-lt"/>
                <a:ea typeface="+mn-ea"/>
                <a:cs typeface="+mn-cs"/>
              </a:rPr>
              <a:t>RoleGuard</a:t>
            </a:r>
            <a:r>
              <a:rPr lang="en-IN" sz="1200" kern="1200" dirty="0">
                <a:solidFill>
                  <a:schemeClr val="tx1"/>
                </a:solidFill>
                <a:effectLst/>
                <a:latin typeface="+mn-lt"/>
                <a:ea typeface="+mn-ea"/>
                <a:cs typeface="+mn-cs"/>
              </a:rPr>
              <a:t>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from './auth/role-</a:t>
            </a:r>
            <a:r>
              <a:rPr lang="en-IN" sz="1200" kern="1200" dirty="0" err="1">
                <a:solidFill>
                  <a:schemeClr val="tx1"/>
                </a:solidFill>
                <a:effectLst/>
                <a:latin typeface="+mn-lt"/>
                <a:ea typeface="+mn-ea"/>
                <a:cs typeface="+mn-cs"/>
              </a:rPr>
              <a:t>guard.service</a:t>
            </a:r>
            <a:r>
              <a:rPr lang="en-IN" sz="1200"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export </a:t>
            </a:r>
            <a:r>
              <a:rPr lang="en-IN" sz="1200" kern="1200" dirty="0" err="1">
                <a:solidFill>
                  <a:schemeClr val="tx1"/>
                </a:solidFill>
                <a:effectLst/>
                <a:latin typeface="+mn-lt"/>
                <a:ea typeface="+mn-ea"/>
                <a:cs typeface="+mn-cs"/>
              </a:rPr>
              <a:t>const</a:t>
            </a:r>
            <a:r>
              <a:rPr lang="en-IN" sz="1200" kern="1200" dirty="0">
                <a:solidFill>
                  <a:schemeClr val="tx1"/>
                </a:solidFill>
                <a:effectLst/>
                <a:latin typeface="+mn-lt"/>
                <a:ea typeface="+mn-ea"/>
                <a:cs typeface="+mn-cs"/>
              </a:rPr>
              <a:t> ROUTES: Routes =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 path: '', component: </a:t>
            </a:r>
            <a:r>
              <a:rPr lang="en-IN" sz="1200" kern="1200" dirty="0" err="1">
                <a:solidFill>
                  <a:schemeClr val="tx1"/>
                </a:solidFill>
                <a:effectLst/>
                <a:latin typeface="+mn-lt"/>
                <a:ea typeface="+mn-ea"/>
                <a:cs typeface="+mn-cs"/>
              </a:rPr>
              <a:t>HomeComponent</a:t>
            </a:r>
            <a:r>
              <a:rPr lang="en-IN" sz="1200" kern="1200" dirty="0">
                <a:solidFill>
                  <a:schemeClr val="tx1"/>
                </a:solidFill>
                <a:effectLst/>
                <a:latin typeface="+mn-lt"/>
                <a:ea typeface="+mn-ea"/>
                <a:cs typeface="+mn-cs"/>
              </a:rPr>
              <a:t>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path: 'profile',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component: </a:t>
            </a:r>
            <a:r>
              <a:rPr lang="en-IN" sz="1200" kern="1200" dirty="0" err="1">
                <a:solidFill>
                  <a:schemeClr val="tx1"/>
                </a:solidFill>
                <a:effectLst/>
                <a:latin typeface="+mn-lt"/>
                <a:ea typeface="+mn-ea"/>
                <a:cs typeface="+mn-cs"/>
              </a:rPr>
              <a:t>ProfileComponent</a:t>
            </a:r>
            <a:r>
              <a:rPr lang="en-IN" sz="1200" kern="1200" dirty="0">
                <a:solidFill>
                  <a:schemeClr val="tx1"/>
                </a:solidFill>
                <a:effectLst/>
                <a:latin typeface="+mn-lt"/>
                <a:ea typeface="+mn-ea"/>
                <a:cs typeface="+mn-cs"/>
              </a:rPr>
              <a:t>,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canActivate</a:t>
            </a: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AuthGuard</a:t>
            </a:r>
            <a:r>
              <a:rPr lang="en-IN" sz="1200" kern="1200" dirty="0">
                <a:solidFill>
                  <a:schemeClr val="tx1"/>
                </a:solidFill>
                <a:effectLst/>
                <a:latin typeface="+mn-lt"/>
                <a:ea typeface="+mn-ea"/>
                <a:cs typeface="+mn-cs"/>
              </a:rPr>
              <a:t>]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path: 'admin',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component: </a:t>
            </a:r>
            <a:r>
              <a:rPr lang="en-IN" sz="1200" kern="1200" dirty="0" err="1">
                <a:solidFill>
                  <a:schemeClr val="tx1"/>
                </a:solidFill>
                <a:effectLst/>
                <a:latin typeface="+mn-lt"/>
                <a:ea typeface="+mn-ea"/>
                <a:cs typeface="+mn-cs"/>
              </a:rPr>
              <a:t>AdminComponent</a:t>
            </a:r>
            <a:r>
              <a:rPr lang="en-IN" sz="1200" kern="1200" dirty="0">
                <a:solidFill>
                  <a:schemeClr val="tx1"/>
                </a:solidFill>
                <a:effectLst/>
                <a:latin typeface="+mn-lt"/>
                <a:ea typeface="+mn-ea"/>
                <a:cs typeface="+mn-cs"/>
              </a:rPr>
              <a:t>,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canActivate</a:t>
            </a: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RoleGuard</a:t>
            </a:r>
            <a:r>
              <a:rPr lang="en-IN" sz="1200" kern="1200" dirty="0">
                <a:solidFill>
                  <a:schemeClr val="tx1"/>
                </a:solidFill>
                <a:effectLst/>
                <a:latin typeface="+mn-lt"/>
                <a:ea typeface="+mn-ea"/>
                <a:cs typeface="+mn-cs"/>
              </a:rPr>
              <a:t>],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data: {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expectedRole</a:t>
            </a:r>
            <a:r>
              <a:rPr lang="en-IN" sz="1200" kern="1200" dirty="0">
                <a:solidFill>
                  <a:schemeClr val="tx1"/>
                </a:solidFill>
                <a:effectLst/>
                <a:latin typeface="+mn-lt"/>
                <a:ea typeface="+mn-ea"/>
                <a:cs typeface="+mn-cs"/>
              </a:rPr>
              <a:t>: 'admin'</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  { path: '**', </a:t>
            </a:r>
            <a:r>
              <a:rPr lang="en-IN" sz="1200" kern="1200" dirty="0" err="1">
                <a:solidFill>
                  <a:schemeClr val="tx1"/>
                </a:solidFill>
                <a:effectLst/>
                <a:latin typeface="+mn-lt"/>
                <a:ea typeface="+mn-ea"/>
                <a:cs typeface="+mn-cs"/>
              </a:rPr>
              <a:t>redirectTo</a:t>
            </a:r>
            <a:r>
              <a:rPr lang="en-IN" sz="1200" kern="1200" dirty="0">
                <a:solidFill>
                  <a:schemeClr val="tx1"/>
                </a:solidFill>
                <a:effectLst/>
                <a:latin typeface="+mn-lt"/>
                <a:ea typeface="+mn-ea"/>
                <a:cs typeface="+mn-cs"/>
              </a:rPr>
              <a:t>: '' }</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For the /admin route, we’re still using </a:t>
            </a:r>
            <a:r>
              <a:rPr lang="en-IN" sz="1200" kern="1200" dirty="0" err="1">
                <a:solidFill>
                  <a:schemeClr val="tx1"/>
                </a:solidFill>
                <a:effectLst/>
                <a:latin typeface="+mn-lt"/>
                <a:ea typeface="+mn-ea"/>
                <a:cs typeface="+mn-cs"/>
              </a:rPr>
              <a:t>canActivate</a:t>
            </a:r>
            <a:r>
              <a:rPr lang="en-IN" sz="1200" kern="1200" dirty="0">
                <a:solidFill>
                  <a:schemeClr val="tx1"/>
                </a:solidFill>
                <a:effectLst/>
                <a:latin typeface="+mn-lt"/>
                <a:ea typeface="+mn-ea"/>
                <a:cs typeface="+mn-cs"/>
              </a:rPr>
              <a:t> to control navigation, but this time we’re passing an object on the data property which has that </a:t>
            </a:r>
            <a:r>
              <a:rPr lang="en-IN" sz="1200" kern="1200" dirty="0" err="1">
                <a:solidFill>
                  <a:schemeClr val="tx1"/>
                </a:solidFill>
                <a:effectLst/>
                <a:latin typeface="+mn-lt"/>
                <a:ea typeface="+mn-ea"/>
                <a:cs typeface="+mn-cs"/>
              </a:rPr>
              <a:t>expectedRole</a:t>
            </a:r>
            <a:r>
              <a:rPr lang="en-IN" sz="1200" kern="1200" dirty="0">
                <a:solidFill>
                  <a:schemeClr val="tx1"/>
                </a:solidFill>
                <a:effectLst/>
                <a:latin typeface="+mn-lt"/>
                <a:ea typeface="+mn-ea"/>
                <a:cs typeface="+mn-cs"/>
              </a:rPr>
              <a:t> key that we’ve already seen in the </a:t>
            </a:r>
            <a:r>
              <a:rPr lang="en-IN" sz="1200" kern="1200" dirty="0" err="1">
                <a:solidFill>
                  <a:schemeClr val="tx1"/>
                </a:solidFill>
                <a:effectLst/>
                <a:latin typeface="+mn-lt"/>
                <a:ea typeface="+mn-ea"/>
                <a:cs typeface="+mn-cs"/>
              </a:rPr>
              <a:t>RoleGuardService</a:t>
            </a:r>
            <a:r>
              <a:rPr lang="en-IN" sz="1200"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Note: This scenario assumes that you are using a custom role claim in your </a:t>
            </a:r>
            <a:r>
              <a:rPr lang="en-IN" sz="1200" kern="1200">
                <a:solidFill>
                  <a:schemeClr val="tx1"/>
                </a:solidFill>
                <a:effectLst/>
                <a:latin typeface="+mn-lt"/>
                <a:ea typeface="+mn-ea"/>
                <a:cs typeface="+mn-cs"/>
              </a:rPr>
              <a:t>JWT.</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88EF01D5-93D0-4CAB-8178-D27CE2280C1B}" type="slidenum">
              <a:rPr lang="en-US" smtClean="0"/>
              <a:t>7</a:t>
            </a:fld>
            <a:endParaRPr lang="en-US"/>
          </a:p>
        </p:txBody>
      </p:sp>
    </p:spTree>
    <p:extLst>
      <p:ext uri="{BB962C8B-B14F-4D97-AF65-F5344CB8AC3E}">
        <p14:creationId xmlns:p14="http://schemas.microsoft.com/office/powerpoint/2010/main" val="26275437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slideMaster" Target="../slideMasters/slideMaster1.xml"/><Relationship Id="rId1" Type="http://schemas.openxmlformats.org/officeDocument/2006/relationships/tags" Target="../tags/tag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84260" y="1192192"/>
            <a:ext cx="5718424" cy="2804929"/>
          </a:xfrm>
        </p:spPr>
        <p:txBody>
          <a:bodyPr anchor="b">
            <a:noAutofit/>
          </a:bodyPr>
          <a:lstStyle>
            <a:lvl1pPr algn="l">
              <a:defRPr sz="6600" b="1" cap="all" baseline="0">
                <a:solidFill>
                  <a:schemeClr val="tx2"/>
                </a:solidFill>
              </a:defRPr>
            </a:lvl1pPr>
          </a:lstStyle>
          <a:p>
            <a:r>
              <a:rPr lang="en-US" dirty="0"/>
              <a:t>Click to edit Master title style</a:t>
            </a:r>
          </a:p>
        </p:txBody>
      </p:sp>
      <p:sp>
        <p:nvSpPr>
          <p:cNvPr id="3" name="Subtitle 2"/>
          <p:cNvSpPr>
            <a:spLocks noGrp="1"/>
          </p:cNvSpPr>
          <p:nvPr>
            <p:ph type="subTitle" idx="1"/>
          </p:nvPr>
        </p:nvSpPr>
        <p:spPr>
          <a:xfrm>
            <a:off x="1284259" y="4066720"/>
            <a:ext cx="7596451" cy="1086237"/>
          </a:xfrm>
        </p:spPr>
        <p:txBody>
          <a:bodyPr>
            <a:normAutofit/>
          </a:bodyPr>
          <a:lstStyle>
            <a:lvl1pPr marL="0" indent="0" algn="l">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2/19/2021</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pic>
        <p:nvPicPr>
          <p:cNvPr id="10" name="Picture 9"/>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806874" y="79334"/>
            <a:ext cx="4620101" cy="6014806"/>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844062"/>
          </a:xfrm>
        </p:spPr>
        <p:txBody>
          <a:bodyPr/>
          <a:lstStyle/>
          <a:p>
            <a:r>
              <a:rPr lang="en-US"/>
              <a:t>Click to edit Master title style</a:t>
            </a:r>
            <a:endParaRPr lang="en-US" dirty="0"/>
          </a:p>
        </p:txBody>
      </p:sp>
      <p:sp>
        <p:nvSpPr>
          <p:cNvPr id="3" name="Content Placeholder 2"/>
          <p:cNvSpPr>
            <a:spLocks noGrp="1"/>
          </p:cNvSpPr>
          <p:nvPr>
            <p:ph idx="1"/>
          </p:nvPr>
        </p:nvSpPr>
        <p:spPr>
          <a:xfrm>
            <a:off x="1371600" y="1740877"/>
            <a:ext cx="9601200" cy="41265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2/19/2021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E94103CC-22C5-4F38-9B77-3524E8A553F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23077" b="19676"/>
          <a:stretch/>
        </p:blipFill>
        <p:spPr>
          <a:xfrm rot="5400000" flipH="1">
            <a:off x="-79029" y="79030"/>
            <a:ext cx="6857997" cy="6699938"/>
          </a:xfrm>
          <a:prstGeom prst="rect">
            <a:avLst/>
          </a:prstGeom>
        </p:spPr>
      </p:pic>
      <p:sp>
        <p:nvSpPr>
          <p:cNvPr id="2" name="Title 1"/>
          <p:cNvSpPr>
            <a:spLocks noGrp="1"/>
          </p:cNvSpPr>
          <p:nvPr>
            <p:ph type="title"/>
          </p:nvPr>
        </p:nvSpPr>
        <p:spPr>
          <a:xfrm>
            <a:off x="765025" y="1301360"/>
            <a:ext cx="9612971" cy="2852737"/>
          </a:xfrm>
        </p:spPr>
        <p:txBody>
          <a:bodyPr anchor="b">
            <a:normAutofit/>
          </a:bodyPr>
          <a:lstStyle>
            <a:lvl1pPr algn="r">
              <a:defRPr sz="7200" b="1" cap="all" baseline="0">
                <a:solidFill>
                  <a:schemeClr val="tx2"/>
                </a:solidFill>
              </a:defRPr>
            </a:lvl1pPr>
          </a:lstStyle>
          <a:p>
            <a:r>
              <a:rPr lang="en-US" dirty="0"/>
              <a:t>Click to edit Master title style</a:t>
            </a:r>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2/19/2021</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rgbClr val="FF304C"/>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2/19/2021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2/19/2021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2/19/2021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2/19/2021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2/19/2021</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1" baseline="0"/>
            </a:lvl1pPr>
          </a:lstStyle>
          <a:p>
            <a:r>
              <a:rPr lang="en-US" dirty="0"/>
              <a:t>Click to edit Master title style</a:t>
            </a:r>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normAutofit/>
          </a:bodyPr>
          <a:lstStyle>
            <a:lvl1pPr marL="0" indent="0">
              <a:lnSpc>
                <a:spcPct val="113000"/>
              </a:lnSpc>
              <a:spcBef>
                <a:spcPts val="0"/>
              </a:spcBef>
              <a:spcAft>
                <a:spcPts val="1500"/>
              </a:spcAft>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2/19/2021</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grpSp>
        <p:nvGrpSpPr>
          <p:cNvPr id="10" name="Group 9">
            <a:extLst>
              <a:ext uri="{FF2B5EF4-FFF2-40B4-BE49-F238E27FC236}">
                <a16:creationId xmlns:a16="http://schemas.microsoft.com/office/drawing/2014/main" id="{A76958A6-8FB1-445D-BB17-D619DC39E089}"/>
              </a:ext>
            </a:extLst>
          </p:cNvPr>
          <p:cNvGrpSpPr/>
          <p:nvPr userDrawn="1"/>
        </p:nvGrpSpPr>
        <p:grpSpPr>
          <a:xfrm>
            <a:off x="4328932" y="0"/>
            <a:ext cx="7863068" cy="6858000"/>
            <a:chOff x="3461852" y="0"/>
            <a:chExt cx="8730148" cy="6858000"/>
          </a:xfrm>
        </p:grpSpPr>
        <p:sp>
          <p:nvSpPr>
            <p:cNvPr id="11" name="Freeform: Shape 11">
              <a:extLst>
                <a:ext uri="{FF2B5EF4-FFF2-40B4-BE49-F238E27FC236}">
                  <a16:creationId xmlns:a16="http://schemas.microsoft.com/office/drawing/2014/main" id="{3C37792F-39D6-4A1F-BE84-103229E3E4C7}"/>
                </a:ext>
              </a:extLst>
            </p:cNvPr>
            <p:cNvSpPr/>
            <p:nvPr/>
          </p:nvSpPr>
          <p:spPr>
            <a:xfrm>
              <a:off x="3461852" y="0"/>
              <a:ext cx="8730148" cy="6858000"/>
            </a:xfrm>
            <a:custGeom>
              <a:avLst/>
              <a:gdLst>
                <a:gd name="connsiteX0" fmla="*/ 0 w 8730148"/>
                <a:gd name="connsiteY0" fmla="*/ 0 h 6858000"/>
                <a:gd name="connsiteX1" fmla="*/ 8730148 w 8730148"/>
                <a:gd name="connsiteY1" fmla="*/ 0 h 6858000"/>
                <a:gd name="connsiteX2" fmla="*/ 8730148 w 8730148"/>
                <a:gd name="connsiteY2" fmla="*/ 23679 h 6858000"/>
                <a:gd name="connsiteX3" fmla="*/ 8730148 w 8730148"/>
                <a:gd name="connsiteY3" fmla="*/ 495863 h 6858000"/>
                <a:gd name="connsiteX4" fmla="*/ 8730148 w 8730148"/>
                <a:gd name="connsiteY4" fmla="*/ 952308 h 6858000"/>
                <a:gd name="connsiteX5" fmla="*/ 8730148 w 8730148"/>
                <a:gd name="connsiteY5" fmla="*/ 1393283 h 6858000"/>
                <a:gd name="connsiteX6" fmla="*/ 8730148 w 8730148"/>
                <a:gd name="connsiteY6" fmla="*/ 1819052 h 6858000"/>
                <a:gd name="connsiteX7" fmla="*/ 8730148 w 8730148"/>
                <a:gd name="connsiteY7" fmla="*/ 2229885 h 6858000"/>
                <a:gd name="connsiteX8" fmla="*/ 8730148 w 8730148"/>
                <a:gd name="connsiteY8" fmla="*/ 2626046 h 6858000"/>
                <a:gd name="connsiteX9" fmla="*/ 8730148 w 8730148"/>
                <a:gd name="connsiteY9" fmla="*/ 3007803 h 6858000"/>
                <a:gd name="connsiteX10" fmla="*/ 8730148 w 8730148"/>
                <a:gd name="connsiteY10" fmla="*/ 3375422 h 6858000"/>
                <a:gd name="connsiteX11" fmla="*/ 8730148 w 8730148"/>
                <a:gd name="connsiteY11" fmla="*/ 3729171 h 6858000"/>
                <a:gd name="connsiteX12" fmla="*/ 8730148 w 8730148"/>
                <a:gd name="connsiteY12" fmla="*/ 4069315 h 6858000"/>
                <a:gd name="connsiteX13" fmla="*/ 8730148 w 8730148"/>
                <a:gd name="connsiteY13" fmla="*/ 4396123 h 6858000"/>
                <a:gd name="connsiteX14" fmla="*/ 8730148 w 8730148"/>
                <a:gd name="connsiteY14" fmla="*/ 4709860 h 6858000"/>
                <a:gd name="connsiteX15" fmla="*/ 8730148 w 8730148"/>
                <a:gd name="connsiteY15" fmla="*/ 5010793 h 6858000"/>
                <a:gd name="connsiteX16" fmla="*/ 8730148 w 8730148"/>
                <a:gd name="connsiteY16" fmla="*/ 5299189 h 6858000"/>
                <a:gd name="connsiteX17" fmla="*/ 8730148 w 8730148"/>
                <a:gd name="connsiteY17" fmla="*/ 5575315 h 6858000"/>
                <a:gd name="connsiteX18" fmla="*/ 8730148 w 8730148"/>
                <a:gd name="connsiteY18" fmla="*/ 5839437 h 6858000"/>
                <a:gd name="connsiteX19" fmla="*/ 8730148 w 8730148"/>
                <a:gd name="connsiteY19" fmla="*/ 6091822 h 6858000"/>
                <a:gd name="connsiteX20" fmla="*/ 8730148 w 8730148"/>
                <a:gd name="connsiteY20" fmla="*/ 6332738 h 6858000"/>
                <a:gd name="connsiteX21" fmla="*/ 8730148 w 8730148"/>
                <a:gd name="connsiteY21" fmla="*/ 6562450 h 6858000"/>
                <a:gd name="connsiteX22" fmla="*/ 8730148 w 8730148"/>
                <a:gd name="connsiteY22" fmla="*/ 6781226 h 6858000"/>
                <a:gd name="connsiteX23" fmla="*/ 8730148 w 8730148"/>
                <a:gd name="connsiteY23" fmla="*/ 6858000 h 6858000"/>
                <a:gd name="connsiteX24" fmla="*/ 1680266 w 8730148"/>
                <a:gd name="connsiteY24" fmla="*/ 6858000 h 6858000"/>
                <a:gd name="connsiteX25" fmla="*/ 1725275 w 8730148"/>
                <a:gd name="connsiteY25" fmla="*/ 6819058 h 6858000"/>
                <a:gd name="connsiteX26" fmla="*/ 3705962 w 8730148"/>
                <a:gd name="connsiteY26" fmla="*/ 2012619 h 6858000"/>
                <a:gd name="connsiteX27" fmla="*/ 116582 w 8730148"/>
                <a:gd name="connsiteY27" fmla="*/ 25323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730148" h="6858000">
                  <a:moveTo>
                    <a:pt x="0" y="0"/>
                  </a:moveTo>
                  <a:lnTo>
                    <a:pt x="8730148" y="0"/>
                  </a:lnTo>
                  <a:lnTo>
                    <a:pt x="8730148" y="23679"/>
                  </a:lnTo>
                  <a:lnTo>
                    <a:pt x="8730148" y="495863"/>
                  </a:lnTo>
                  <a:lnTo>
                    <a:pt x="8730148" y="952308"/>
                  </a:lnTo>
                  <a:lnTo>
                    <a:pt x="8730148" y="1393283"/>
                  </a:lnTo>
                  <a:lnTo>
                    <a:pt x="8730148" y="1819052"/>
                  </a:lnTo>
                  <a:lnTo>
                    <a:pt x="8730148" y="2229885"/>
                  </a:lnTo>
                  <a:lnTo>
                    <a:pt x="8730148" y="2626046"/>
                  </a:lnTo>
                  <a:lnTo>
                    <a:pt x="8730148" y="3007803"/>
                  </a:lnTo>
                  <a:lnTo>
                    <a:pt x="8730148" y="3375422"/>
                  </a:lnTo>
                  <a:lnTo>
                    <a:pt x="8730148" y="3729171"/>
                  </a:lnTo>
                  <a:lnTo>
                    <a:pt x="8730148" y="4069315"/>
                  </a:lnTo>
                  <a:lnTo>
                    <a:pt x="8730148" y="4396123"/>
                  </a:lnTo>
                  <a:lnTo>
                    <a:pt x="8730148" y="4709860"/>
                  </a:lnTo>
                  <a:lnTo>
                    <a:pt x="8730148" y="5010793"/>
                  </a:lnTo>
                  <a:lnTo>
                    <a:pt x="8730148" y="5299189"/>
                  </a:lnTo>
                  <a:lnTo>
                    <a:pt x="8730148" y="5575315"/>
                  </a:lnTo>
                  <a:lnTo>
                    <a:pt x="8730148" y="5839437"/>
                  </a:lnTo>
                  <a:lnTo>
                    <a:pt x="8730148" y="6091822"/>
                  </a:lnTo>
                  <a:lnTo>
                    <a:pt x="8730148" y="6332738"/>
                  </a:lnTo>
                  <a:lnTo>
                    <a:pt x="8730148" y="6562450"/>
                  </a:lnTo>
                  <a:lnTo>
                    <a:pt x="8730148" y="6781226"/>
                  </a:lnTo>
                  <a:lnTo>
                    <a:pt x="8730148" y="6858000"/>
                  </a:lnTo>
                  <a:lnTo>
                    <a:pt x="1680266" y="6858000"/>
                  </a:lnTo>
                  <a:lnTo>
                    <a:pt x="1725275" y="6819058"/>
                  </a:lnTo>
                  <a:cubicBezTo>
                    <a:pt x="4662995" y="4201443"/>
                    <a:pt x="4141233" y="1217168"/>
                    <a:pt x="3705962" y="2012619"/>
                  </a:cubicBezTo>
                  <a:cubicBezTo>
                    <a:pt x="3516434" y="3033940"/>
                    <a:pt x="1425698" y="2929072"/>
                    <a:pt x="116582" y="253235"/>
                  </a:cubicBezTo>
                  <a:close/>
                </a:path>
              </a:pathLst>
            </a:custGeom>
            <a:solidFill>
              <a:srgbClr val="2C00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2" name="Freeform 10">
              <a:extLst>
                <a:ext uri="{FF2B5EF4-FFF2-40B4-BE49-F238E27FC236}">
                  <a16:creationId xmlns:a16="http://schemas.microsoft.com/office/drawing/2014/main" id="{D9D750E2-E6DE-4123-9001-1391D1C49BBA}"/>
                </a:ext>
              </a:extLst>
            </p:cNvPr>
            <p:cNvSpPr>
              <a:spLocks/>
            </p:cNvSpPr>
            <p:nvPr/>
          </p:nvSpPr>
          <p:spPr bwMode="auto">
            <a:xfrm>
              <a:off x="6813803" y="2034666"/>
              <a:ext cx="669225" cy="544797"/>
            </a:xfrm>
            <a:custGeom>
              <a:avLst/>
              <a:gdLst>
                <a:gd name="T0" fmla="*/ 98 w 149"/>
                <a:gd name="T1" fmla="*/ 84 h 121"/>
                <a:gd name="T2" fmla="*/ 149 w 149"/>
                <a:gd name="T3" fmla="*/ 34 h 121"/>
                <a:gd name="T4" fmla="*/ 112 w 149"/>
                <a:gd name="T5" fmla="*/ 0 h 121"/>
                <a:gd name="T6" fmla="*/ 39 w 149"/>
                <a:gd name="T7" fmla="*/ 78 h 121"/>
                <a:gd name="T8" fmla="*/ 0 w 149"/>
                <a:gd name="T9" fmla="*/ 113 h 121"/>
                <a:gd name="T10" fmla="*/ 29 w 149"/>
                <a:gd name="T11" fmla="*/ 121 h 121"/>
                <a:gd name="T12" fmla="*/ 99 w 149"/>
                <a:gd name="T13" fmla="*/ 99 h 121"/>
                <a:gd name="T14" fmla="*/ 64 w 149"/>
                <a:gd name="T15" fmla="*/ 67 h 121"/>
                <a:gd name="T16" fmla="*/ 98 w 149"/>
                <a:gd name="T17" fmla="*/ 84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1">
                  <a:moveTo>
                    <a:pt x="98" y="84"/>
                  </a:moveTo>
                  <a:cubicBezTo>
                    <a:pt x="127" y="84"/>
                    <a:pt x="149" y="61"/>
                    <a:pt x="149" y="34"/>
                  </a:cubicBezTo>
                  <a:cubicBezTo>
                    <a:pt x="147" y="22"/>
                    <a:pt x="143" y="0"/>
                    <a:pt x="112" y="0"/>
                  </a:cubicBezTo>
                  <a:cubicBezTo>
                    <a:pt x="78" y="0"/>
                    <a:pt x="67" y="47"/>
                    <a:pt x="39" y="78"/>
                  </a:cubicBezTo>
                  <a:cubicBezTo>
                    <a:pt x="37" y="95"/>
                    <a:pt x="20" y="111"/>
                    <a:pt x="0" y="113"/>
                  </a:cubicBezTo>
                  <a:cubicBezTo>
                    <a:pt x="5" y="118"/>
                    <a:pt x="16" y="121"/>
                    <a:pt x="29" y="121"/>
                  </a:cubicBezTo>
                  <a:cubicBezTo>
                    <a:pt x="54" y="121"/>
                    <a:pt x="83" y="114"/>
                    <a:pt x="99" y="99"/>
                  </a:cubicBezTo>
                  <a:cubicBezTo>
                    <a:pt x="78" y="99"/>
                    <a:pt x="65" y="86"/>
                    <a:pt x="64" y="67"/>
                  </a:cubicBezTo>
                  <a:cubicBezTo>
                    <a:pt x="74" y="79"/>
                    <a:pt x="85" y="84"/>
                    <a:pt x="98" y="84"/>
                  </a:cubicBezTo>
                </a:path>
              </a:pathLst>
            </a:custGeom>
            <a:solidFill>
              <a:srgbClr val="00B9E7"/>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13" name="Freeform 11">
              <a:extLst>
                <a:ext uri="{FF2B5EF4-FFF2-40B4-BE49-F238E27FC236}">
                  <a16:creationId xmlns:a16="http://schemas.microsoft.com/office/drawing/2014/main" id="{53936070-5445-4D5B-B6F0-A72D3CC87FBE}"/>
                </a:ext>
              </a:extLst>
            </p:cNvPr>
            <p:cNvSpPr>
              <a:spLocks/>
            </p:cNvSpPr>
            <p:nvPr/>
          </p:nvSpPr>
          <p:spPr bwMode="auto">
            <a:xfrm>
              <a:off x="6464057" y="1641201"/>
              <a:ext cx="1018971" cy="860913"/>
            </a:xfrm>
            <a:custGeom>
              <a:avLst/>
              <a:gdLst>
                <a:gd name="T0" fmla="*/ 227 w 227"/>
                <a:gd name="T1" fmla="*/ 120 h 192"/>
                <a:gd name="T2" fmla="*/ 188 w 227"/>
                <a:gd name="T3" fmla="*/ 40 h 192"/>
                <a:gd name="T4" fmla="*/ 127 w 227"/>
                <a:gd name="T5" fmla="*/ 2 h 192"/>
                <a:gd name="T6" fmla="*/ 122 w 227"/>
                <a:gd name="T7" fmla="*/ 0 h 192"/>
                <a:gd name="T8" fmla="*/ 121 w 227"/>
                <a:gd name="T9" fmla="*/ 0 h 192"/>
                <a:gd name="T10" fmla="*/ 0 w 227"/>
                <a:gd name="T11" fmla="*/ 125 h 192"/>
                <a:gd name="T12" fmla="*/ 42 w 227"/>
                <a:gd name="T13" fmla="*/ 187 h 192"/>
                <a:gd name="T14" fmla="*/ 85 w 227"/>
                <a:gd name="T15" fmla="*/ 187 h 192"/>
                <a:gd name="T16" fmla="*/ 117 w 227"/>
                <a:gd name="T17" fmla="*/ 166 h 192"/>
                <a:gd name="T18" fmla="*/ 190 w 227"/>
                <a:gd name="T19" fmla="*/ 88 h 192"/>
                <a:gd name="T20" fmla="*/ 227 w 227"/>
                <a:gd name="T21" fmla="*/ 122 h 192"/>
                <a:gd name="T22" fmla="*/ 227 w 227"/>
                <a:gd name="T23" fmla="*/ 12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2">
                  <a:moveTo>
                    <a:pt x="227" y="120"/>
                  </a:moveTo>
                  <a:cubicBezTo>
                    <a:pt x="226" y="88"/>
                    <a:pt x="211" y="61"/>
                    <a:pt x="188" y="40"/>
                  </a:cubicBezTo>
                  <a:cubicBezTo>
                    <a:pt x="170" y="23"/>
                    <a:pt x="149" y="11"/>
                    <a:pt x="127" y="2"/>
                  </a:cubicBezTo>
                  <a:cubicBezTo>
                    <a:pt x="125" y="1"/>
                    <a:pt x="123" y="0"/>
                    <a:pt x="122" y="0"/>
                  </a:cubicBezTo>
                  <a:cubicBezTo>
                    <a:pt x="122" y="0"/>
                    <a:pt x="122" y="0"/>
                    <a:pt x="121" y="0"/>
                  </a:cubicBezTo>
                  <a:cubicBezTo>
                    <a:pt x="94" y="32"/>
                    <a:pt x="0" y="57"/>
                    <a:pt x="0" y="125"/>
                  </a:cubicBezTo>
                  <a:cubicBezTo>
                    <a:pt x="0" y="152"/>
                    <a:pt x="17" y="176"/>
                    <a:pt x="42" y="187"/>
                  </a:cubicBezTo>
                  <a:cubicBezTo>
                    <a:pt x="56" y="192"/>
                    <a:pt x="70" y="192"/>
                    <a:pt x="85" y="187"/>
                  </a:cubicBezTo>
                  <a:cubicBezTo>
                    <a:pt x="98" y="183"/>
                    <a:pt x="108" y="175"/>
                    <a:pt x="117" y="166"/>
                  </a:cubicBezTo>
                  <a:cubicBezTo>
                    <a:pt x="145" y="135"/>
                    <a:pt x="156" y="88"/>
                    <a:pt x="190" y="88"/>
                  </a:cubicBezTo>
                  <a:cubicBezTo>
                    <a:pt x="221" y="88"/>
                    <a:pt x="225" y="110"/>
                    <a:pt x="227" y="122"/>
                  </a:cubicBezTo>
                  <a:cubicBezTo>
                    <a:pt x="227" y="122"/>
                    <a:pt x="227" y="121"/>
                    <a:pt x="227" y="120"/>
                  </a:cubicBezTo>
                </a:path>
              </a:pathLst>
            </a:custGeom>
            <a:solidFill>
              <a:srgbClr val="007DB6"/>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gr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2/19/2021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2/19/2021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Objectiv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hasCustomPrompt="1"/>
            <p:custDataLst>
              <p:tags r:id="rId1"/>
            </p:custDataLst>
          </p:nvPr>
        </p:nvSpPr>
        <p:spPr>
          <a:xfrm>
            <a:off x="398021" y="1494767"/>
            <a:ext cx="9058352"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56373" y="1828800"/>
            <a:ext cx="2670923" cy="2011680"/>
          </a:xfrm>
          <a:prstGeom prst="rect">
            <a:avLst/>
          </a:prstGeom>
        </p:spPr>
      </p:pic>
    </p:spTree>
    <p:extLst>
      <p:ext uri="{BB962C8B-B14F-4D97-AF65-F5344CB8AC3E}">
        <p14:creationId xmlns:p14="http://schemas.microsoft.com/office/powerpoint/2010/main" val="36763587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Audienc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hasCustomPrompt="1"/>
            <p:custDataLst>
              <p:tags r:id="rId1"/>
            </p:custDataLst>
          </p:nvPr>
        </p:nvSpPr>
        <p:spPr>
          <a:xfrm>
            <a:off x="398021" y="1494767"/>
            <a:ext cx="9233659"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631680" y="1828800"/>
            <a:ext cx="2438400" cy="2426400"/>
          </a:xfrm>
          <a:prstGeom prst="rect">
            <a:avLst/>
          </a:prstGeom>
        </p:spPr>
      </p:pic>
    </p:spTree>
    <p:extLst>
      <p:ext uri="{BB962C8B-B14F-4D97-AF65-F5344CB8AC3E}">
        <p14:creationId xmlns:p14="http://schemas.microsoft.com/office/powerpoint/2010/main" val="19385286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Referenc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hasCustomPrompt="1"/>
            <p:custDataLst>
              <p:tags r:id="rId1"/>
            </p:custDataLst>
          </p:nvPr>
        </p:nvSpPr>
        <p:spPr>
          <a:xfrm>
            <a:off x="398021" y="1494767"/>
            <a:ext cx="9346384"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44000" y="1828800"/>
            <a:ext cx="3048000" cy="1539740"/>
          </a:xfrm>
          <a:prstGeom prst="rect">
            <a:avLst/>
          </a:prstGeom>
        </p:spPr>
      </p:pic>
    </p:spTree>
    <p:extLst>
      <p:ext uri="{BB962C8B-B14F-4D97-AF65-F5344CB8AC3E}">
        <p14:creationId xmlns:p14="http://schemas.microsoft.com/office/powerpoint/2010/main" val="3317844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2/19/2021</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1" name="Graphic 10">
            <a:extLst>
              <a:ext uri="{FF2B5EF4-FFF2-40B4-BE49-F238E27FC236}">
                <a16:creationId xmlns:a16="http://schemas.microsoft.com/office/drawing/2014/main" id="{88A1A95F-E6B1-4D64-9EE3-62F86C387690}"/>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43524" y="5780459"/>
            <a:ext cx="886097" cy="938841"/>
          </a:xfrm>
          <a:prstGeom prst="rect">
            <a:avLst/>
          </a:prstGeom>
        </p:spPr>
      </p:pic>
      <p:grpSp>
        <p:nvGrpSpPr>
          <p:cNvPr id="12" name="Group 14"/>
          <p:cNvGrpSpPr>
            <a:grpSpLocks noChangeAspect="1"/>
          </p:cNvGrpSpPr>
          <p:nvPr userDrawn="1"/>
        </p:nvGrpSpPr>
        <p:grpSpPr>
          <a:xfrm>
            <a:off x="9769232" y="214877"/>
            <a:ext cx="2112264" cy="470923"/>
            <a:chOff x="728663" y="4465638"/>
            <a:chExt cx="5354637" cy="1193801"/>
          </a:xfrm>
        </p:grpSpPr>
        <p:sp>
          <p:nvSpPr>
            <p:cNvPr id="13"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4"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5"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6"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150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jwt.io/"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18349-BE40-45B0-B85F-362D04219E3B}"/>
              </a:ext>
            </a:extLst>
          </p:cNvPr>
          <p:cNvSpPr>
            <a:spLocks noGrp="1"/>
          </p:cNvSpPr>
          <p:nvPr>
            <p:ph type="ctrTitle"/>
          </p:nvPr>
        </p:nvSpPr>
        <p:spPr>
          <a:xfrm>
            <a:off x="1284259" y="1192192"/>
            <a:ext cx="7026363" cy="2804929"/>
          </a:xfrm>
        </p:spPr>
        <p:txBody>
          <a:bodyPr/>
          <a:lstStyle/>
          <a:p>
            <a:r>
              <a:rPr lang="en-IN" dirty="0"/>
              <a:t>      Angular 6</a:t>
            </a:r>
          </a:p>
        </p:txBody>
      </p:sp>
      <p:sp>
        <p:nvSpPr>
          <p:cNvPr id="4" name="Subtitle 3"/>
          <p:cNvSpPr>
            <a:spLocks noGrp="1"/>
          </p:cNvSpPr>
          <p:nvPr>
            <p:ph type="subTitle" idx="1"/>
          </p:nvPr>
        </p:nvSpPr>
        <p:spPr/>
        <p:txBody>
          <a:bodyPr/>
          <a:lstStyle/>
          <a:p>
            <a:r>
              <a:rPr lang="en-US" dirty="0"/>
              <a:t>Lesson 09</a:t>
            </a:r>
          </a:p>
        </p:txBody>
      </p:sp>
      <p:pic>
        <p:nvPicPr>
          <p:cNvPr id="6" name="Graphic 5">
            <a:extLst>
              <a:ext uri="{FF2B5EF4-FFF2-40B4-BE49-F238E27FC236}">
                <a16:creationId xmlns:a16="http://schemas.microsoft.com/office/drawing/2014/main" id="{72207360-794A-4E0D-A171-1118974E633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84259" y="2693595"/>
            <a:ext cx="1230294" cy="1303526"/>
          </a:xfrm>
          <a:prstGeom prst="rect">
            <a:avLst/>
          </a:prstGeom>
        </p:spPr>
      </p:pic>
    </p:spTree>
    <p:extLst>
      <p:ext uri="{BB962C8B-B14F-4D97-AF65-F5344CB8AC3E}">
        <p14:creationId xmlns:p14="http://schemas.microsoft.com/office/powerpoint/2010/main" val="2116003724"/>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5025" y="1222591"/>
            <a:ext cx="9612971" cy="1512425"/>
          </a:xfrm>
        </p:spPr>
        <p:txBody>
          <a:bodyPr/>
          <a:lstStyle/>
          <a:p>
            <a:r>
              <a:rPr lang="en-IN" dirty="0"/>
              <a:t>Authentication</a:t>
            </a:r>
            <a:endParaRPr lang="en-US" dirty="0"/>
          </a:p>
        </p:txBody>
      </p:sp>
      <p:sp>
        <p:nvSpPr>
          <p:cNvPr id="5" name="Text Placeholder 4"/>
          <p:cNvSpPr>
            <a:spLocks noGrp="1"/>
          </p:cNvSpPr>
          <p:nvPr>
            <p:ph type="body" idx="1"/>
          </p:nvPr>
        </p:nvSpPr>
        <p:spPr/>
        <p:txBody>
          <a:bodyPr/>
          <a:lstStyle/>
          <a:p>
            <a:r>
              <a:rPr lang="en-US" dirty="0"/>
              <a:t>Objectives</a:t>
            </a:r>
          </a:p>
        </p:txBody>
      </p:sp>
    </p:spTree>
    <p:extLst>
      <p:ext uri="{BB962C8B-B14F-4D97-AF65-F5344CB8AC3E}">
        <p14:creationId xmlns:p14="http://schemas.microsoft.com/office/powerpoint/2010/main" val="80229496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IN" dirty="0"/>
              <a:t>Authentication</a:t>
            </a:r>
            <a:endParaRPr lang="en-US" dirty="0"/>
          </a:p>
        </p:txBody>
      </p:sp>
      <p:sp>
        <p:nvSpPr>
          <p:cNvPr id="10" name="Content Placeholder 9"/>
          <p:cNvSpPr>
            <a:spLocks noGrp="1"/>
          </p:cNvSpPr>
          <p:nvPr>
            <p:ph sz="half" idx="2"/>
          </p:nvPr>
        </p:nvSpPr>
        <p:spPr>
          <a:xfrm>
            <a:off x="1371600" y="1968499"/>
            <a:ext cx="4447786" cy="3581401"/>
          </a:xfrm>
        </p:spPr>
        <p:txBody>
          <a:bodyPr>
            <a:normAutofit fontScale="92500" lnSpcReduction="20000"/>
          </a:bodyPr>
          <a:lstStyle/>
          <a:p>
            <a:pPr lvl="0"/>
            <a:r>
              <a:rPr lang="en-IN" dirty="0"/>
              <a:t>How Authentication works in SPA</a:t>
            </a:r>
            <a:endParaRPr lang="en-US" dirty="0"/>
          </a:p>
          <a:p>
            <a:pPr lvl="0"/>
            <a:r>
              <a:rPr lang="en-IN" dirty="0"/>
              <a:t>JSON Web Tokens</a:t>
            </a:r>
            <a:endParaRPr lang="en-US" dirty="0"/>
          </a:p>
          <a:p>
            <a:pPr lvl="0"/>
            <a:r>
              <a:rPr lang="en-IN" dirty="0"/>
              <a:t>Signup, Login and logout application</a:t>
            </a:r>
            <a:endParaRPr lang="en-US" dirty="0"/>
          </a:p>
          <a:p>
            <a:pPr lvl="0"/>
            <a:r>
              <a:rPr lang="en-IN" dirty="0"/>
              <a:t>Router Protection, Route Guards</a:t>
            </a:r>
            <a:endParaRPr lang="en-US" dirty="0"/>
          </a:p>
          <a:p>
            <a:pPr lvl="0"/>
            <a:r>
              <a:rPr lang="en-IN" dirty="0" err="1"/>
              <a:t>CanActivate</a:t>
            </a:r>
            <a:r>
              <a:rPr lang="en-IN" dirty="0"/>
              <a:t> interface</a:t>
            </a:r>
          </a:p>
          <a:p>
            <a:pPr lvl="0"/>
            <a:r>
              <a:rPr lang="en-US" dirty="0"/>
              <a:t>Checking and using Authentication Status</a:t>
            </a:r>
          </a:p>
        </p:txBody>
      </p:sp>
    </p:spTree>
    <p:extLst>
      <p:ext uri="{BB962C8B-B14F-4D97-AF65-F5344CB8AC3E}">
        <p14:creationId xmlns:p14="http://schemas.microsoft.com/office/powerpoint/2010/main" val="199431190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457200"/>
            <a:ext cx="9601200" cy="1485900"/>
          </a:xfrm>
        </p:spPr>
        <p:txBody>
          <a:bodyPr/>
          <a:lstStyle/>
          <a:p>
            <a:pPr lvl="0"/>
            <a:r>
              <a:rPr lang="en-IN" dirty="0"/>
              <a:t>Authentication using JWT</a:t>
            </a:r>
            <a:endParaRPr lang="en-US" dirty="0"/>
          </a:p>
        </p:txBody>
      </p:sp>
      <p:sp>
        <p:nvSpPr>
          <p:cNvPr id="3" name="Content Placeholder 2"/>
          <p:cNvSpPr>
            <a:spLocks noGrp="1"/>
          </p:cNvSpPr>
          <p:nvPr>
            <p:ph sz="half" idx="1"/>
          </p:nvPr>
        </p:nvSpPr>
        <p:spPr>
          <a:xfrm>
            <a:off x="1175420" y="1200150"/>
            <a:ext cx="9601200" cy="4954387"/>
          </a:xfrm>
        </p:spPr>
        <p:txBody>
          <a:bodyPr>
            <a:normAutofit fontScale="85000" lnSpcReduction="20000"/>
          </a:bodyPr>
          <a:lstStyle/>
          <a:p>
            <a:r>
              <a:rPr lang="en-IN" b="1" cap="all" dirty="0"/>
              <a:t>Routing Decisions Based on Token Expiration</a:t>
            </a:r>
            <a:endParaRPr lang="en-US" b="1" cap="all" dirty="0"/>
          </a:p>
          <a:p>
            <a:r>
              <a:rPr lang="en-IN" dirty="0">
                <a:solidFill>
                  <a:schemeClr val="tx1"/>
                </a:solidFill>
              </a:rPr>
              <a:t>If you’re using </a:t>
            </a:r>
            <a:r>
              <a:rPr lang="en-IN" dirty="0">
                <a:solidFill>
                  <a:schemeClr val="tx1"/>
                </a:solidFill>
                <a:hlinkClick r:id="rId3"/>
              </a:rPr>
              <a:t>JSON Web Tokens</a:t>
            </a:r>
            <a:r>
              <a:rPr lang="en-IN" dirty="0">
                <a:solidFill>
                  <a:schemeClr val="tx1"/>
                </a:solidFill>
              </a:rPr>
              <a:t> (JWT) to secure your Angular app (and I recommend that you do), one way to make a decision about whether or not a route should be accessed is to check the token’s expiration time. It’s likely that you’re using the JWT to let your users access protected resources on your backend. If this is the case, the token won’t be useful if it is expired, so this is a good indication that the user should be considered “not authenticated”.</a:t>
            </a:r>
            <a:endParaRPr lang="en-US" dirty="0">
              <a:solidFill>
                <a:schemeClr val="tx1"/>
              </a:solidFill>
            </a:endParaRPr>
          </a:p>
          <a:p>
            <a:r>
              <a:rPr lang="en-IN" dirty="0">
                <a:solidFill>
                  <a:schemeClr val="tx1"/>
                </a:solidFill>
              </a:rPr>
              <a:t>Create a method in your authentication service which checks whether or not the user is authenticated. Again, for the purposes of stateless authentication with JWT, that is simply a matter of whether the token is expired. The </a:t>
            </a:r>
            <a:r>
              <a:rPr lang="en-IN" dirty="0" err="1">
                <a:solidFill>
                  <a:schemeClr val="tx1"/>
                </a:solidFill>
              </a:rPr>
              <a:t>JwtHelperService</a:t>
            </a:r>
            <a:r>
              <a:rPr lang="en-IN" dirty="0">
                <a:solidFill>
                  <a:schemeClr val="tx1"/>
                </a:solidFill>
              </a:rPr>
              <a:t> class from angular2-jwt can be used for this.</a:t>
            </a:r>
            <a:endParaRPr lang="en-US" dirty="0">
              <a:solidFill>
                <a:schemeClr val="tx1"/>
              </a:solidFill>
            </a:endParaRPr>
          </a:p>
          <a:p>
            <a:r>
              <a:rPr lang="en-IN" dirty="0" err="1">
                <a:solidFill>
                  <a:schemeClr val="tx1"/>
                </a:solidFill>
              </a:rPr>
              <a:t>npm</a:t>
            </a:r>
            <a:r>
              <a:rPr lang="en-IN" dirty="0">
                <a:solidFill>
                  <a:schemeClr val="tx1"/>
                </a:solidFill>
              </a:rPr>
              <a:t> install --save @auth0/angular-</a:t>
            </a:r>
            <a:r>
              <a:rPr lang="en-IN" dirty="0" err="1">
                <a:solidFill>
                  <a:schemeClr val="tx1"/>
                </a:solidFill>
              </a:rPr>
              <a:t>jwt</a:t>
            </a:r>
            <a:endParaRPr lang="en-US" dirty="0">
              <a:solidFill>
                <a:schemeClr val="tx1"/>
              </a:solidFill>
            </a:endParaRPr>
          </a:p>
          <a:p>
            <a:r>
              <a:rPr lang="en-IN" dirty="0">
                <a:solidFill>
                  <a:schemeClr val="tx1"/>
                </a:solidFill>
              </a:rPr>
              <a:t>Use angular-</a:t>
            </a:r>
            <a:r>
              <a:rPr lang="en-IN" dirty="0" err="1">
                <a:solidFill>
                  <a:schemeClr val="tx1"/>
                </a:solidFill>
              </a:rPr>
              <a:t>jwt</a:t>
            </a:r>
            <a:r>
              <a:rPr lang="en-IN" dirty="0">
                <a:solidFill>
                  <a:schemeClr val="tx1"/>
                </a:solidFill>
              </a:rPr>
              <a:t> in your </a:t>
            </a:r>
            <a:r>
              <a:rPr lang="en-IN" dirty="0" err="1">
                <a:solidFill>
                  <a:schemeClr val="tx1"/>
                </a:solidFill>
              </a:rPr>
              <a:t>AuthService</a:t>
            </a:r>
            <a:endParaRPr lang="en-IN" dirty="0">
              <a:solidFill>
                <a:schemeClr val="tx1"/>
              </a:solidFill>
            </a:endParaRPr>
          </a:p>
          <a:p>
            <a:r>
              <a:rPr lang="en-US" dirty="0">
                <a:solidFill>
                  <a:schemeClr val="tx1"/>
                </a:solidFill>
              </a:rPr>
              <a:t>Refer the code in Notes section</a:t>
            </a:r>
          </a:p>
          <a:p>
            <a:endParaRPr lang="en-US" dirty="0"/>
          </a:p>
          <a:p>
            <a:endParaRPr lang="en-US" dirty="0"/>
          </a:p>
          <a:p>
            <a:endParaRPr lang="en-US" dirty="0"/>
          </a:p>
        </p:txBody>
      </p:sp>
    </p:spTree>
    <p:extLst>
      <p:ext uri="{BB962C8B-B14F-4D97-AF65-F5344CB8AC3E}">
        <p14:creationId xmlns:p14="http://schemas.microsoft.com/office/powerpoint/2010/main" val="229586708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25C9E-EEED-405D-B338-2FD96D2BD25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063750B-01A1-4DC6-8D67-CA51F524C699}"/>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584CF76A-246F-41E8-A8BC-47587B584563}"/>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2162089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457200"/>
            <a:ext cx="9601200" cy="1485900"/>
          </a:xfrm>
        </p:spPr>
        <p:txBody>
          <a:bodyPr/>
          <a:lstStyle/>
          <a:p>
            <a:r>
              <a:rPr lang="en-IN" b="1" cap="all" dirty="0"/>
              <a:t>Checking for a User’s Role</a:t>
            </a:r>
            <a:endParaRPr lang="en-US" b="1" cap="all" dirty="0"/>
          </a:p>
        </p:txBody>
      </p:sp>
      <p:sp>
        <p:nvSpPr>
          <p:cNvPr id="3" name="Content Placeholder 2"/>
          <p:cNvSpPr>
            <a:spLocks noGrp="1"/>
          </p:cNvSpPr>
          <p:nvPr>
            <p:ph sz="half" idx="1"/>
          </p:nvPr>
        </p:nvSpPr>
        <p:spPr>
          <a:xfrm>
            <a:off x="1175420" y="1200150"/>
            <a:ext cx="9601200" cy="4954387"/>
          </a:xfrm>
        </p:spPr>
        <p:txBody>
          <a:bodyPr>
            <a:normAutofit/>
          </a:bodyPr>
          <a:lstStyle/>
          <a:p>
            <a:pPr lvl="0" fontAlgn="base">
              <a:lnSpc>
                <a:spcPct val="130000"/>
              </a:lnSpc>
            </a:pPr>
            <a:r>
              <a:rPr lang="en-US" altLang="en-US" sz="1700" b="1" cap="all" dirty="0"/>
              <a:t>The above example works well for scenarios that are fairly straight forward. If a user is authenticated, let them pass. There are many cases, however, where we’ll want to be a bit more fine-grained with our routing decisions.</a:t>
            </a:r>
          </a:p>
          <a:p>
            <a:pPr lvl="0" fontAlgn="base">
              <a:lnSpc>
                <a:spcPct val="130000"/>
              </a:lnSpc>
            </a:pPr>
            <a:r>
              <a:rPr lang="en-US" altLang="en-US" sz="1700" b="1" cap="all" dirty="0"/>
              <a:t>For example, we may wish to only permit access to a route for users that have a certain role attached to their account. To handle these cases we can modify the guard to look for a certain role in the payload of the user’s JWT.</a:t>
            </a:r>
          </a:p>
          <a:p>
            <a:pPr lvl="0" fontAlgn="base">
              <a:lnSpc>
                <a:spcPct val="130000"/>
              </a:lnSpc>
            </a:pPr>
            <a:r>
              <a:rPr lang="en-US" altLang="en-US" sz="1700" b="1" cap="all" dirty="0"/>
              <a:t>Install </a:t>
            </a:r>
            <a:r>
              <a:rPr lang="en-US" altLang="en-US" sz="1700" b="1" cap="all" dirty="0" err="1"/>
              <a:t>jwt</a:t>
            </a:r>
            <a:r>
              <a:rPr lang="en-US" altLang="en-US" sz="1700" b="1" cap="all" dirty="0"/>
              <a:t>-decode so we can read the JWT payload.</a:t>
            </a:r>
          </a:p>
          <a:p>
            <a:pPr lvl="0" fontAlgn="base">
              <a:lnSpc>
                <a:spcPct val="130000"/>
              </a:lnSpc>
            </a:pPr>
            <a:r>
              <a:rPr lang="en-US" altLang="en-US" sz="1700" b="1" cap="all" dirty="0" err="1"/>
              <a:t>npm</a:t>
            </a:r>
            <a:r>
              <a:rPr lang="en-US" altLang="en-US" sz="1700" b="1" cap="all" dirty="0"/>
              <a:t> install --save </a:t>
            </a:r>
            <a:r>
              <a:rPr lang="en-US" altLang="en-US" sz="1700" b="1" cap="all" dirty="0" err="1"/>
              <a:t>jwt</a:t>
            </a:r>
            <a:r>
              <a:rPr lang="en-US" altLang="en-US" sz="1700" b="1" cap="all" dirty="0"/>
              <a:t>-decode</a:t>
            </a:r>
          </a:p>
          <a:p>
            <a:pPr lvl="0" fontAlgn="base">
              <a:lnSpc>
                <a:spcPct val="130000"/>
              </a:lnSpc>
            </a:pPr>
            <a:r>
              <a:rPr lang="en-US" altLang="en-US" sz="1700" b="1" cap="all" dirty="0"/>
              <a:t>Since there will be times that we want to use both the catch-all </a:t>
            </a:r>
            <a:r>
              <a:rPr lang="en-US" altLang="en-US" sz="1700" b="1" cap="all" dirty="0" err="1"/>
              <a:t>AuthGuardand</a:t>
            </a:r>
            <a:r>
              <a:rPr lang="en-US" altLang="en-US" sz="1700" b="1" cap="all" dirty="0"/>
              <a:t> a more fine-grained role-based guard, let’s create a new service so we can handle both cases.</a:t>
            </a:r>
          </a:p>
        </p:txBody>
      </p:sp>
    </p:spTree>
    <p:extLst>
      <p:ext uri="{BB962C8B-B14F-4D97-AF65-F5344CB8AC3E}">
        <p14:creationId xmlns:p14="http://schemas.microsoft.com/office/powerpoint/2010/main" val="11586257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37F91-611E-4AE4-9F88-2778EDA2309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DBAAE44-9A45-48C4-874F-562434654630}"/>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1378CE83-FBFB-468D-874A-DAEEBB972127}"/>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25932343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IN" dirty="0"/>
              <a:t>How Authentication works in SPA</a:t>
            </a:r>
            <a:endParaRPr lang="en-US" dirty="0"/>
          </a:p>
        </p:txBody>
      </p:sp>
      <p:sp>
        <p:nvSpPr>
          <p:cNvPr id="3" name="Content Placeholder 2"/>
          <p:cNvSpPr>
            <a:spLocks noGrp="1"/>
          </p:cNvSpPr>
          <p:nvPr>
            <p:ph sz="half" idx="1"/>
          </p:nvPr>
        </p:nvSpPr>
        <p:spPr>
          <a:xfrm>
            <a:off x="1138844" y="1521228"/>
            <a:ext cx="9601200" cy="4954387"/>
          </a:xfrm>
        </p:spPr>
        <p:txBody>
          <a:bodyPr>
            <a:normAutofit/>
          </a:bodyPr>
          <a:lstStyle/>
          <a:p>
            <a:endParaRPr lang="en-US" dirty="0"/>
          </a:p>
        </p:txBody>
      </p:sp>
    </p:spTree>
    <p:extLst>
      <p:ext uri="{BB962C8B-B14F-4D97-AF65-F5344CB8AC3E}">
        <p14:creationId xmlns:p14="http://schemas.microsoft.com/office/powerpoint/2010/main" val="213923214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IN" dirty="0"/>
              <a:t>JSON Web Tokens</a:t>
            </a:r>
            <a:endParaRPr lang="en-US" dirty="0"/>
          </a:p>
        </p:txBody>
      </p:sp>
      <p:sp>
        <p:nvSpPr>
          <p:cNvPr id="3" name="Content Placeholder 2"/>
          <p:cNvSpPr>
            <a:spLocks noGrp="1"/>
          </p:cNvSpPr>
          <p:nvPr>
            <p:ph sz="half" idx="1"/>
          </p:nvPr>
        </p:nvSpPr>
        <p:spPr>
          <a:xfrm>
            <a:off x="1138844" y="1521228"/>
            <a:ext cx="9601200" cy="4954387"/>
          </a:xfrm>
        </p:spPr>
        <p:txBody>
          <a:bodyPr>
            <a:normAutofit/>
          </a:bodyPr>
          <a:lstStyle/>
          <a:p>
            <a:endParaRPr lang="en-US" dirty="0"/>
          </a:p>
        </p:txBody>
      </p:sp>
    </p:spTree>
    <p:extLst>
      <p:ext uri="{BB962C8B-B14F-4D97-AF65-F5344CB8AC3E}">
        <p14:creationId xmlns:p14="http://schemas.microsoft.com/office/powerpoint/2010/main" val="286167883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IN" dirty="0"/>
              <a:t>Signup, Login and logout application</a:t>
            </a:r>
            <a:endParaRPr lang="en-US" dirty="0"/>
          </a:p>
        </p:txBody>
      </p:sp>
      <p:sp>
        <p:nvSpPr>
          <p:cNvPr id="3" name="Content Placeholder 2"/>
          <p:cNvSpPr>
            <a:spLocks noGrp="1"/>
          </p:cNvSpPr>
          <p:nvPr>
            <p:ph sz="half" idx="1"/>
          </p:nvPr>
        </p:nvSpPr>
        <p:spPr>
          <a:xfrm>
            <a:off x="1138844" y="1521228"/>
            <a:ext cx="9601200" cy="4954387"/>
          </a:xfrm>
        </p:spPr>
        <p:txBody>
          <a:bodyPr>
            <a:normAutofit/>
          </a:bodyPr>
          <a:lstStyle/>
          <a:p>
            <a:endParaRPr lang="en-US" dirty="0"/>
          </a:p>
        </p:txBody>
      </p:sp>
    </p:spTree>
    <p:extLst>
      <p:ext uri="{BB962C8B-B14F-4D97-AF65-F5344CB8AC3E}">
        <p14:creationId xmlns:p14="http://schemas.microsoft.com/office/powerpoint/2010/main" val="153919147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IN" dirty="0"/>
              <a:t>Router Protection, Route Guards</a:t>
            </a:r>
            <a:endParaRPr lang="en-US" dirty="0"/>
          </a:p>
        </p:txBody>
      </p:sp>
      <p:sp>
        <p:nvSpPr>
          <p:cNvPr id="3" name="Content Placeholder 2"/>
          <p:cNvSpPr>
            <a:spLocks noGrp="1"/>
          </p:cNvSpPr>
          <p:nvPr>
            <p:ph sz="half" idx="1"/>
          </p:nvPr>
        </p:nvSpPr>
        <p:spPr>
          <a:xfrm>
            <a:off x="1138844" y="1521228"/>
            <a:ext cx="9601200" cy="4954387"/>
          </a:xfrm>
        </p:spPr>
        <p:txBody>
          <a:bodyPr>
            <a:normAutofit/>
          </a:bodyPr>
          <a:lstStyle/>
          <a:p>
            <a:endParaRPr lang="en-US" dirty="0"/>
          </a:p>
        </p:txBody>
      </p:sp>
    </p:spTree>
    <p:extLst>
      <p:ext uri="{BB962C8B-B14F-4D97-AF65-F5344CB8AC3E}">
        <p14:creationId xmlns:p14="http://schemas.microsoft.com/office/powerpoint/2010/main" val="56863358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cap="all" dirty="0"/>
              <a:t>What are Route Guards?</a:t>
            </a:r>
            <a:endParaRPr lang="en-US" cap="all" dirty="0"/>
          </a:p>
        </p:txBody>
      </p:sp>
      <p:sp>
        <p:nvSpPr>
          <p:cNvPr id="3" name="Content Placeholder 2"/>
          <p:cNvSpPr>
            <a:spLocks noGrp="1"/>
          </p:cNvSpPr>
          <p:nvPr>
            <p:ph sz="half" idx="1"/>
          </p:nvPr>
        </p:nvSpPr>
        <p:spPr>
          <a:xfrm>
            <a:off x="1138844" y="1521228"/>
            <a:ext cx="9601200" cy="4954387"/>
          </a:xfrm>
        </p:spPr>
        <p:txBody>
          <a:bodyPr>
            <a:normAutofit/>
          </a:bodyPr>
          <a:lstStyle/>
          <a:p>
            <a:pPr eaLnBrk="0" fontAlgn="base" hangingPunct="0">
              <a:lnSpc>
                <a:spcPct val="100000"/>
              </a:lnSpc>
              <a:spcBef>
                <a:spcPct val="0"/>
              </a:spcBef>
              <a:spcAft>
                <a:spcPct val="0"/>
              </a:spcAft>
            </a:pPr>
            <a:r>
              <a:rPr lang="en-US" altLang="en-US" dirty="0" err="1"/>
              <a:t>Angular’s</a:t>
            </a:r>
            <a:r>
              <a:rPr lang="en-US" altLang="en-US" dirty="0"/>
              <a:t> route guards are interfaces which can tell the router whether or not it should allow navigation to a requested route. They make this decision by looking for a true or false return value from a class which implements the given guard interface.</a:t>
            </a:r>
          </a:p>
          <a:p>
            <a:pPr eaLnBrk="0" fontAlgn="base" hangingPunct="0">
              <a:lnSpc>
                <a:spcPct val="100000"/>
              </a:lnSpc>
              <a:spcBef>
                <a:spcPct val="0"/>
              </a:spcBef>
              <a:spcAft>
                <a:spcPct val="0"/>
              </a:spcAft>
            </a:pPr>
            <a:endParaRPr lang="en-US" altLang="en-US" dirty="0"/>
          </a:p>
          <a:p>
            <a:pPr eaLnBrk="0" fontAlgn="base" hangingPunct="0">
              <a:lnSpc>
                <a:spcPct val="100000"/>
              </a:lnSpc>
              <a:spcBef>
                <a:spcPct val="0"/>
              </a:spcBef>
              <a:spcAft>
                <a:spcPct val="0"/>
              </a:spcAft>
            </a:pPr>
            <a:r>
              <a:rPr lang="en-US" altLang="en-US" dirty="0"/>
              <a:t>There are five different types of guards and each of them is called in a particular sequence. The router’s behavior is modified differently depending on which guard is used. </a:t>
            </a:r>
          </a:p>
          <a:p>
            <a:pPr marL="0" lvl="0" indent="0" eaLnBrk="0" fontAlgn="base" hangingPunct="0">
              <a:lnSpc>
                <a:spcPct val="100000"/>
              </a:lnSpc>
              <a:spcBef>
                <a:spcPct val="0"/>
              </a:spcBef>
              <a:spcAft>
                <a:spcPct val="0"/>
              </a:spcAft>
              <a:buNone/>
            </a:pPr>
            <a:r>
              <a:rPr lang="en-US" altLang="en-US" dirty="0"/>
              <a:t>The guards are:</a:t>
            </a:r>
          </a:p>
          <a:p>
            <a:pPr marL="530352" lvl="1" indent="0" eaLnBrk="0" fontAlgn="base" hangingPunct="0">
              <a:lnSpc>
                <a:spcPct val="100000"/>
              </a:lnSpc>
              <a:spcBef>
                <a:spcPct val="0"/>
              </a:spcBef>
              <a:spcAft>
                <a:spcPct val="0"/>
              </a:spcAft>
              <a:buFontTx/>
              <a:buChar char="•"/>
            </a:pPr>
            <a:r>
              <a:rPr lang="en-US" altLang="en-US" dirty="0" err="1"/>
              <a:t>CanActivate</a:t>
            </a:r>
            <a:endParaRPr lang="en-US" altLang="en-US" dirty="0"/>
          </a:p>
          <a:p>
            <a:pPr marL="530352" lvl="1" indent="0" eaLnBrk="0" fontAlgn="base" hangingPunct="0">
              <a:lnSpc>
                <a:spcPct val="100000"/>
              </a:lnSpc>
              <a:spcBef>
                <a:spcPct val="0"/>
              </a:spcBef>
              <a:spcAft>
                <a:spcPct val="0"/>
              </a:spcAft>
              <a:buFontTx/>
              <a:buChar char="•"/>
            </a:pPr>
            <a:r>
              <a:rPr lang="en-US" altLang="en-US" dirty="0" err="1"/>
              <a:t>CanActivateChild</a:t>
            </a:r>
            <a:endParaRPr lang="en-US" altLang="en-US" dirty="0"/>
          </a:p>
          <a:p>
            <a:pPr marL="530352" lvl="1" indent="0" eaLnBrk="0" fontAlgn="base" hangingPunct="0">
              <a:lnSpc>
                <a:spcPct val="100000"/>
              </a:lnSpc>
              <a:spcBef>
                <a:spcPct val="0"/>
              </a:spcBef>
              <a:spcAft>
                <a:spcPct val="0"/>
              </a:spcAft>
              <a:buFontTx/>
              <a:buChar char="•"/>
            </a:pPr>
            <a:r>
              <a:rPr lang="en-US" altLang="en-US" dirty="0" err="1"/>
              <a:t>CanDeactivate</a:t>
            </a:r>
            <a:endParaRPr lang="en-US" altLang="en-US" dirty="0"/>
          </a:p>
          <a:p>
            <a:pPr marL="530352" lvl="1" indent="0" eaLnBrk="0" fontAlgn="base" hangingPunct="0">
              <a:lnSpc>
                <a:spcPct val="100000"/>
              </a:lnSpc>
              <a:spcBef>
                <a:spcPct val="0"/>
              </a:spcBef>
              <a:spcAft>
                <a:spcPct val="0"/>
              </a:spcAft>
              <a:buFontTx/>
              <a:buChar char="•"/>
            </a:pPr>
            <a:r>
              <a:rPr lang="en-US" altLang="en-US" dirty="0" err="1"/>
              <a:t>CanLoad</a:t>
            </a:r>
            <a:endParaRPr lang="en-US" altLang="en-US" dirty="0"/>
          </a:p>
          <a:p>
            <a:pPr marL="530352" lvl="1" indent="0" eaLnBrk="0" fontAlgn="base" hangingPunct="0">
              <a:lnSpc>
                <a:spcPct val="100000"/>
              </a:lnSpc>
              <a:spcBef>
                <a:spcPct val="0"/>
              </a:spcBef>
              <a:spcAft>
                <a:spcPct val="0"/>
              </a:spcAft>
              <a:buFontTx/>
              <a:buChar char="•"/>
            </a:pPr>
            <a:r>
              <a:rPr lang="en-US" altLang="en-US" dirty="0"/>
              <a:t>Resolve</a:t>
            </a:r>
          </a:p>
          <a:p>
            <a:endParaRPr lang="en-US" dirty="0"/>
          </a:p>
        </p:txBody>
      </p:sp>
    </p:spTree>
    <p:extLst>
      <p:ext uri="{BB962C8B-B14F-4D97-AF65-F5344CB8AC3E}">
        <p14:creationId xmlns:p14="http://schemas.microsoft.com/office/powerpoint/2010/main" val="99809170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IN" dirty="0" err="1"/>
              <a:t>CanActivate</a:t>
            </a:r>
            <a:r>
              <a:rPr lang="en-IN" dirty="0"/>
              <a:t> interface</a:t>
            </a:r>
          </a:p>
        </p:txBody>
      </p:sp>
      <p:sp>
        <p:nvSpPr>
          <p:cNvPr id="3" name="Content Placeholder 2"/>
          <p:cNvSpPr>
            <a:spLocks noGrp="1"/>
          </p:cNvSpPr>
          <p:nvPr>
            <p:ph sz="half" idx="1"/>
          </p:nvPr>
        </p:nvSpPr>
        <p:spPr>
          <a:xfrm>
            <a:off x="1138844" y="1521228"/>
            <a:ext cx="9601200" cy="4954387"/>
          </a:xfrm>
        </p:spPr>
        <p:txBody>
          <a:bodyPr>
            <a:normAutofit/>
          </a:bodyPr>
          <a:lstStyle/>
          <a:p>
            <a:endParaRPr lang="en-US" dirty="0"/>
          </a:p>
        </p:txBody>
      </p:sp>
    </p:spTree>
    <p:extLst>
      <p:ext uri="{BB962C8B-B14F-4D97-AF65-F5344CB8AC3E}">
        <p14:creationId xmlns:p14="http://schemas.microsoft.com/office/powerpoint/2010/main" val="253517115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3920" y="635000"/>
            <a:ext cx="10271760" cy="1485900"/>
          </a:xfrm>
        </p:spPr>
        <p:txBody>
          <a:bodyPr/>
          <a:lstStyle/>
          <a:p>
            <a:pPr lvl="0"/>
            <a:r>
              <a:rPr lang="en-US" dirty="0"/>
              <a:t>Checking and using Authentication Status</a:t>
            </a:r>
          </a:p>
        </p:txBody>
      </p:sp>
      <p:sp>
        <p:nvSpPr>
          <p:cNvPr id="3" name="Content Placeholder 2"/>
          <p:cNvSpPr>
            <a:spLocks noGrp="1"/>
          </p:cNvSpPr>
          <p:nvPr>
            <p:ph sz="half" idx="1"/>
          </p:nvPr>
        </p:nvSpPr>
        <p:spPr>
          <a:xfrm>
            <a:off x="1138844" y="1521228"/>
            <a:ext cx="9601200" cy="4954387"/>
          </a:xfrm>
        </p:spPr>
        <p:txBody>
          <a:bodyPr>
            <a:normAutofit/>
          </a:bodyPr>
          <a:lstStyle/>
          <a:p>
            <a:endParaRPr lang="en-US" dirty="0"/>
          </a:p>
        </p:txBody>
      </p:sp>
    </p:spTree>
    <p:extLst>
      <p:ext uri="{BB962C8B-B14F-4D97-AF65-F5344CB8AC3E}">
        <p14:creationId xmlns:p14="http://schemas.microsoft.com/office/powerpoint/2010/main" val="305551276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heme/theme1.xml><?xml version="1.0" encoding="utf-8"?>
<a:theme xmlns:a="http://schemas.openxmlformats.org/drawingml/2006/main" name="Crop">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DCDateModified xmlns="http://schemas.microsoft.com/sharepoint/v3/fields" xsi:nil="true"/>
    <Level xmlns="26bed2a0-a239-4228-bd8e-b46f54fc12da">L1</Level>
    <Material_x0020_Type xmlns="26bed2a0-a239-4228-bd8e-b46f54fc12da">Class book</Material_x0020_Type>
    <Category xmlns="26bed2a0-a239-4228-bd8e-b46f54fc12da">Module Artifact</Category>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64F797F9BD2124B9B89E1787624A7F8" ma:contentTypeVersion="10" ma:contentTypeDescription="Create a new document." ma:contentTypeScope="" ma:versionID="9c6744cef3b63dc926475b7dcd1b6858">
  <xsd:schema xmlns:xsd="http://www.w3.org/2001/XMLSchema" xmlns:xs="http://www.w3.org/2001/XMLSchema" xmlns:p="http://schemas.microsoft.com/office/2006/metadata/properties" xmlns:ns2="http://schemas.microsoft.com/sharepoint/v3/fields" xmlns:ns3="26bed2a0-a239-4228-bd8e-b46f54fc12da" targetNamespace="http://schemas.microsoft.com/office/2006/metadata/properties" ma:root="true" ma:fieldsID="67ee57ba3d6bba7dddc705dba4695c0f" ns2:_="" ns3:_="">
    <xsd:import namespace="http://schemas.microsoft.com/sharepoint/v3/fields"/>
    <xsd:import namespace="26bed2a0-a239-4228-bd8e-b46f54fc12da"/>
    <xsd:element name="properties">
      <xsd:complexType>
        <xsd:sequence>
          <xsd:element name="documentManagement">
            <xsd:complexType>
              <xsd:all>
                <xsd:element ref="ns2:_Version" minOccurs="0"/>
                <xsd:element ref="ns3:Level"/>
                <xsd:element ref="ns3:Category"/>
                <xsd:element ref="ns2:_DCDateModified" minOccurs="0"/>
                <xsd:element ref="ns3:Material_x0020_Type"/>
                <xsd:element ref="ns3:MediaServiceMetadata" minOccurs="0"/>
                <xsd:element ref="ns3:MediaServiceFastMetadata"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xsd:simpleType>
        <xsd:restriction base="dms:Text"/>
      </xsd:simpleType>
    </xsd:element>
    <xsd:element name="_DCDateModified" ma:index="11" nillable="true" ma:displayName="Date Modified" ma:description="The date on which this resource was last modified" ma:format="DateTime" ma:internalName="_DCDateModifi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6bed2a0-a239-4228-bd8e-b46f54fc12da" elementFormDefault="qualified">
    <xsd:import namespace="http://schemas.microsoft.com/office/2006/documentManagement/types"/>
    <xsd:import namespace="http://schemas.microsoft.com/office/infopath/2007/PartnerControls"/>
    <xsd:element name="Level" ma:index="9"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2"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3F02CF3-2245-4E01-9857-14EC10AB88F2}">
  <ds:schemaRefs>
    <ds:schemaRef ds:uri="http://schemas.microsoft.com/office/2006/metadata/properties"/>
    <ds:schemaRef ds:uri="http://schemas.microsoft.com/office/infopath/2007/PartnerControls"/>
    <ds:schemaRef ds:uri="http://schemas.microsoft.com/sharepoint/v3/fields"/>
    <ds:schemaRef ds:uri="26bed2a0-a239-4228-bd8e-b46f54fc12da"/>
  </ds:schemaRefs>
</ds:datastoreItem>
</file>

<file path=customXml/itemProps2.xml><?xml version="1.0" encoding="utf-8"?>
<ds:datastoreItem xmlns:ds="http://schemas.openxmlformats.org/officeDocument/2006/customXml" ds:itemID="{700A2388-2D69-4DF0-9F6F-FB04F4705040}">
  <ds:schemaRefs>
    <ds:schemaRef ds:uri="http://schemas.microsoft.com/sharepoint/v3/contenttype/forms"/>
  </ds:schemaRefs>
</ds:datastoreItem>
</file>

<file path=customXml/itemProps3.xml><?xml version="1.0" encoding="utf-8"?>
<ds:datastoreItem xmlns:ds="http://schemas.openxmlformats.org/officeDocument/2006/customXml" ds:itemID="{B56DBC2D-2232-4BF6-BC4A-741E83BA0B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26bed2a0-a239-4228-bd8e-b46f54fc1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TM10001105[[fn=Crop]]</Template>
  <TotalTime>2615</TotalTime>
  <Words>1594</Words>
  <Application>Microsoft Office PowerPoint</Application>
  <PresentationFormat>Widescreen</PresentationFormat>
  <Paragraphs>88</Paragraphs>
  <Slides>14</Slides>
  <Notes>4</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Calibri</vt:lpstr>
      <vt:lpstr>Franklin Gothic Book</vt:lpstr>
      <vt:lpstr>Crop</vt:lpstr>
      <vt:lpstr>      Angular 6</vt:lpstr>
      <vt:lpstr>Authentication</vt:lpstr>
      <vt:lpstr>Authentication</vt:lpstr>
      <vt:lpstr>Authentication using JWT</vt:lpstr>
      <vt:lpstr>PowerPoint Presentation</vt:lpstr>
      <vt:lpstr>Checking for a User’s Role</vt:lpstr>
      <vt:lpstr>PowerPoint Presentation</vt:lpstr>
      <vt:lpstr>How Authentication works in SPA</vt:lpstr>
      <vt:lpstr>JSON Web Tokens</vt:lpstr>
      <vt:lpstr>Signup, Login and logout application</vt:lpstr>
      <vt:lpstr>Router Protection, Route Guards</vt:lpstr>
      <vt:lpstr>What are Route Guards?</vt:lpstr>
      <vt:lpstr>CanActivate interface</vt:lpstr>
      <vt:lpstr>Checking and using Authentication Status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Technologies</dc:title>
  <dc:creator>VISHAL</dc:creator>
  <cp:lastModifiedBy>Ramesh, Suganthalakshmi</cp:lastModifiedBy>
  <cp:revision>420</cp:revision>
  <dcterms:created xsi:type="dcterms:W3CDTF">2017-07-28T13:43:20Z</dcterms:created>
  <dcterms:modified xsi:type="dcterms:W3CDTF">2021-02-19T10:43:30Z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0x010100064F797F9BD2124B9B89E1787624A7F8</vt:lpwstr>
  </property>
</Properties>
</file>