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</p:sldMasterIdLst>
  <p:notesMasterIdLst>
    <p:notesMasterId r:id="rId28"/>
  </p:notesMasterIdLst>
  <p:handoutMasterIdLst>
    <p:handoutMasterId r:id="rId29"/>
  </p:handoutMasterIdLst>
  <p:sldIdLst>
    <p:sldId id="289" r:id="rId5"/>
    <p:sldId id="264" r:id="rId6"/>
    <p:sldId id="291" r:id="rId7"/>
    <p:sldId id="265" r:id="rId8"/>
    <p:sldId id="266" r:id="rId9"/>
    <p:sldId id="267" r:id="rId10"/>
    <p:sldId id="268" r:id="rId11"/>
    <p:sldId id="273" r:id="rId12"/>
    <p:sldId id="293" r:id="rId13"/>
    <p:sldId id="288" r:id="rId14"/>
    <p:sldId id="274" r:id="rId15"/>
    <p:sldId id="275" r:id="rId16"/>
    <p:sldId id="294" r:id="rId17"/>
    <p:sldId id="297" r:id="rId18"/>
    <p:sldId id="296" r:id="rId19"/>
    <p:sldId id="277" r:id="rId20"/>
    <p:sldId id="298" r:id="rId21"/>
    <p:sldId id="300" r:id="rId22"/>
    <p:sldId id="301" r:id="rId23"/>
    <p:sldId id="279" r:id="rId24"/>
    <p:sldId id="270" r:id="rId25"/>
    <p:sldId id="271" r:id="rId26"/>
    <p:sldId id="272" r:id="rId2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8">
          <p15:clr>
            <a:srgbClr val="A4A3A4"/>
          </p15:clr>
        </p15:guide>
        <p15:guide id="2" pos="109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rivastava, Vaishali" initials="SV" lastIdx="1" clrIdx="0">
    <p:extLst>
      <p:ext uri="{19B8F6BF-5375-455C-9EA6-DF929625EA0E}">
        <p15:presenceInfo xmlns:p15="http://schemas.microsoft.com/office/powerpoint/2012/main" userId="S-1-5-21-1531082355-734649621-3782574898-22999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AD"/>
    <a:srgbClr val="5044E6"/>
    <a:srgbClr val="00A1E4"/>
    <a:srgbClr val="E6E8F2"/>
    <a:srgbClr val="D0D4E8"/>
    <a:srgbClr val="AB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10" autoAdjust="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80" d="100"/>
          <a:sy n="80" d="100"/>
        </p:scale>
        <p:origin x="-1848" y="-72"/>
      </p:cViewPr>
      <p:guideLst>
        <p:guide orient="horz" pos="2738"/>
        <p:guide pos="1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F45B8CD-F359-4D94-8AD1-923710D8C70B}" type="datetimeFigureOut">
              <a:rPr lang="en-US" smtClean="0"/>
              <a:pPr/>
              <a:t>9/17/2020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135FA1E-2594-4534-BDDE-F96DBDDC820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084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44663" y="44926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37361" y="4347210"/>
            <a:ext cx="4815860" cy="4278895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228576" y="74977"/>
            <a:ext cx="6934201" cy="325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725" tIns="48862" rIns="97725" bIns="48862"/>
          <a:lstStyle/>
          <a:p>
            <a:pPr marL="0" marR="0" indent="0" algn="l" defTabSz="9666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Core Java 8  and Development Tools		</a:t>
            </a: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3580791" y="8639633"/>
            <a:ext cx="2946699" cy="31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725" tIns="48862" rIns="97725" bIns="48862"/>
          <a:lstStyle/>
          <a:p>
            <a:pPr marL="0" marR="0" indent="0" algn="l" defTabSz="9666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Arial" pitchFamily="34" charset="0"/>
                <a:cs typeface="Arial" pitchFamily="34" charset="0"/>
              </a:rPr>
              <a:t>		Page 00-</a:t>
            </a:r>
            <a:fld id="{BD9FB300-F9DC-4669-88F4-967ABA23CC04}" type="slidenum">
              <a:rPr lang="en-US" sz="1100" smtClean="0">
                <a:latin typeface="Arial" pitchFamily="34" charset="0"/>
                <a:cs typeface="Arial" pitchFamily="34" charset="0"/>
              </a:rPr>
              <a:pPr marL="0" marR="0" indent="0" algn="l" defTabSz="9666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506961" y="375016"/>
            <a:ext cx="0" cy="840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6661" tIns="48331" rIns="96661" bIns="483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651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58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1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62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91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182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716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539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126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814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285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881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700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33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385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607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41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562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648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0805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181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687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744663" y="449263"/>
            <a:ext cx="4800600" cy="360045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75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8.e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www.capgemini.com/optimize-your-business-and-it-operations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Graphic 97">
            <a:extLst>
              <a:ext uri="{FF2B5EF4-FFF2-40B4-BE49-F238E27FC236}">
                <a16:creationId xmlns:a16="http://schemas.microsoft.com/office/drawing/2014/main" id="{46279687-00F0-4823-8159-585447C12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845575" y="0"/>
            <a:ext cx="5298425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05991" y="3068961"/>
            <a:ext cx="3725949" cy="720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lnSpc>
                <a:spcPts val="2250"/>
              </a:lnSpc>
              <a:defRPr lang="en-US" sz="1950" b="0" dirty="0">
                <a:solidFill>
                  <a:srgbClr val="0070AD"/>
                </a:solidFill>
              </a:defRPr>
            </a:lvl1pPr>
          </a:lstStyle>
          <a:p>
            <a:pPr marL="0" lvl="0"/>
            <a:r>
              <a:rPr lang="en-US" dirty="0"/>
              <a:t>Click to insert 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5991" y="3932560"/>
            <a:ext cx="3725949" cy="122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l" defTabSz="6858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dirty="0">
                <a:solidFill>
                  <a:srgbClr val="0070AD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991" y="6101473"/>
            <a:ext cx="1714500" cy="5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49880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721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Open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ED4D731-14A5-4158-B245-8DDD87FF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880" b="21349"/>
          <a:stretch/>
        </p:blipFill>
        <p:spPr>
          <a:xfrm flipH="1">
            <a:off x="3676014" y="838200"/>
            <a:ext cx="5467986" cy="6019801"/>
          </a:xfrm>
          <a:prstGeom prst="rect">
            <a:avLst/>
          </a:prstGeom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C674D03-4995-4743-8CE4-61CF32CFBD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4078" y="2946391"/>
            <a:ext cx="3563932" cy="1418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2250"/>
              </a:lnSpc>
              <a:buNone/>
              <a:defRPr sz="1950">
                <a:solidFill>
                  <a:schemeClr val="bg1"/>
                </a:solidFill>
              </a:defRPr>
            </a:lvl1pPr>
            <a:lvl2pPr marL="342900" indent="0">
              <a:buNone/>
              <a:defRPr sz="45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add section title</a:t>
            </a:r>
          </a:p>
        </p:txBody>
      </p:sp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F75B031B-5C69-4C3C-AB8F-4121747DCE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8" r="22708"/>
          <a:stretch/>
        </p:blipFill>
        <p:spPr>
          <a:xfrm flipH="1">
            <a:off x="0" y="-1588"/>
            <a:ext cx="4991100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60255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05991" y="3068961"/>
            <a:ext cx="3725949" cy="720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lnSpc>
                <a:spcPts val="2250"/>
              </a:lnSpc>
              <a:defRPr lang="en-US" sz="1950" b="0" dirty="0">
                <a:solidFill>
                  <a:srgbClr val="0070AD"/>
                </a:solidFill>
              </a:defRPr>
            </a:lvl1pPr>
          </a:lstStyle>
          <a:p>
            <a:pPr marL="0" lvl="0"/>
            <a:r>
              <a:rPr lang="en-US" dirty="0"/>
              <a:t>Click to insert 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5991" y="3932560"/>
            <a:ext cx="3725949" cy="122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l" defTabSz="6858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dirty="0">
                <a:solidFill>
                  <a:srgbClr val="0070AD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</p:spTree>
    <p:extLst>
      <p:ext uri="{BB962C8B-B14F-4D97-AF65-F5344CB8AC3E}">
        <p14:creationId xmlns:p14="http://schemas.microsoft.com/office/powerpoint/2010/main" val="330209309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1"/>
          <a:ext cx="13574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"/>
                        <a:ext cx="13574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298516" y="1494766"/>
            <a:ext cx="884548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257017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6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108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887389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19458" name="Picture 2" descr="http://www.strategic-resume.com/wp-content/uploads/2015/08/Summary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885" y="1494990"/>
            <a:ext cx="16383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00686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ssess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887389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375" y="1828800"/>
            <a:ext cx="1828800" cy="181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2248747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ssessm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375" y="1828800"/>
            <a:ext cx="1828800" cy="181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168016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/>
        </p:nvSpPr>
        <p:spPr>
          <a:xfrm>
            <a:off x="8702075" y="6555758"/>
            <a:ext cx="31771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6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6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/>
        </p:nvCxnSpPr>
        <p:spPr>
          <a:xfrm flipV="1">
            <a:off x="2462756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7">
            <a:hlinkClick r:id="rId2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/>
        </p:nvSpPr>
        <p:spPr>
          <a:xfrm>
            <a:off x="305992" y="6555971"/>
            <a:ext cx="2121755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lvl="0" algn="l" defTabSz="685800">
              <a:lnSpc>
                <a:spcPct val="85000"/>
              </a:lnSpc>
              <a:defRPr/>
            </a:pPr>
            <a:r>
              <a:rPr lang="en-US" sz="6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Presentation Title | Author | Date</a:t>
            </a:r>
          </a:p>
        </p:txBody>
      </p:sp>
      <p:sp>
        <p:nvSpPr>
          <p:cNvPr id="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/>
        </p:nvSpPr>
        <p:spPr>
          <a:xfrm>
            <a:off x="2558534" y="6555758"/>
            <a:ext cx="1667765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6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2013 Capgemini.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59664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567D75B-5423-48DB-8633-03391840D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1" y="1"/>
            <a:ext cx="4343399" cy="5902959"/>
          </a:xfrm>
          <a:prstGeom prst="rect">
            <a:avLst/>
          </a:prstGeom>
        </p:spPr>
      </p:pic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367AB1B6-26E9-4FAE-989E-AB1A5DFB19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3515" y="-1"/>
            <a:ext cx="4430485" cy="6857998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pt-P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404813"/>
            <a:ext cx="8262453" cy="863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dirty="0"/>
            </a:lvl1pPr>
          </a:lstStyle>
          <a:p>
            <a:pPr lvl="0">
              <a:lnSpc>
                <a:spcPts val="225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28FC83-C11D-47F2-8BDE-B10D125E5E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3194" y="1430234"/>
            <a:ext cx="4258807" cy="136815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650"/>
              </a:lnSpc>
              <a:defRPr sz="1350">
                <a:solidFill>
                  <a:schemeClr val="tx1"/>
                </a:solidFill>
              </a:defRPr>
            </a:lvl1pPr>
            <a:lvl2pPr marL="173831" indent="-170260">
              <a:lnSpc>
                <a:spcPts val="1350"/>
              </a:lnSpc>
              <a:defRPr sz="1200">
                <a:solidFill>
                  <a:schemeClr val="tx1"/>
                </a:solidFill>
              </a:defRPr>
            </a:lvl2pPr>
            <a:lvl3pPr marL="347663" indent="-173831">
              <a:lnSpc>
                <a:spcPts val="1200"/>
              </a:lnSpc>
              <a:defRPr sz="1050">
                <a:solidFill>
                  <a:schemeClr val="tx1"/>
                </a:solidFill>
              </a:defRPr>
            </a:lvl3pPr>
            <a:lvl4pPr marL="511969" indent="-164306">
              <a:lnSpc>
                <a:spcPts val="1050"/>
              </a:lnSpc>
              <a:defRPr sz="9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228FC83-C11D-47F2-8BDE-B10D125E5E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3194" y="3253616"/>
            <a:ext cx="4258807" cy="136815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650"/>
              </a:lnSpc>
              <a:defRPr sz="1350">
                <a:solidFill>
                  <a:schemeClr val="tx1"/>
                </a:solidFill>
              </a:defRPr>
            </a:lvl1pPr>
            <a:lvl2pPr marL="173831" indent="-170260">
              <a:lnSpc>
                <a:spcPts val="1350"/>
              </a:lnSpc>
              <a:defRPr sz="1200">
                <a:solidFill>
                  <a:schemeClr val="tx1"/>
                </a:solidFill>
              </a:defRPr>
            </a:lvl2pPr>
            <a:lvl3pPr marL="347663" indent="-173831">
              <a:lnSpc>
                <a:spcPts val="1200"/>
              </a:lnSpc>
              <a:defRPr sz="1050">
                <a:solidFill>
                  <a:schemeClr val="tx1"/>
                </a:solidFill>
              </a:defRPr>
            </a:lvl3pPr>
            <a:lvl4pPr marL="511969" indent="-164306">
              <a:lnSpc>
                <a:spcPts val="1050"/>
              </a:lnSpc>
              <a:defRPr sz="9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228FC83-C11D-47F2-8BDE-B10D125E5E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3194" y="5076998"/>
            <a:ext cx="4258807" cy="136815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650"/>
              </a:lnSpc>
              <a:defRPr sz="1350">
                <a:solidFill>
                  <a:schemeClr val="tx1"/>
                </a:solidFill>
              </a:defRPr>
            </a:lvl1pPr>
            <a:lvl2pPr marL="173831" indent="-170260">
              <a:lnSpc>
                <a:spcPts val="1350"/>
              </a:lnSpc>
              <a:defRPr sz="1200">
                <a:solidFill>
                  <a:schemeClr val="tx1"/>
                </a:solidFill>
              </a:defRPr>
            </a:lvl2pPr>
            <a:lvl3pPr marL="347663" indent="-173831">
              <a:lnSpc>
                <a:spcPts val="1200"/>
              </a:lnSpc>
              <a:defRPr sz="1050">
                <a:solidFill>
                  <a:schemeClr val="tx1"/>
                </a:solidFill>
              </a:defRPr>
            </a:lvl3pPr>
            <a:lvl4pPr marL="511969" indent="-164306">
              <a:lnSpc>
                <a:spcPts val="1050"/>
              </a:lnSpc>
              <a:defRPr sz="9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/>
        </p:nvSpPr>
        <p:spPr>
          <a:xfrm>
            <a:off x="8702075" y="6555758"/>
            <a:ext cx="31771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6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6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20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/>
        </p:nvCxnSpPr>
        <p:spPr>
          <a:xfrm flipV="1">
            <a:off x="2462756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7">
            <a:hlinkClick r:id="rId4"/>
            <a:extLst>
              <a:ext uri="{FF2B5EF4-FFF2-40B4-BE49-F238E27FC236}">
                <a16:creationId xmlns:a16="http://schemas.microsoft.com/office/drawing/2014/main" id="{F376ABD1-4930-42EB-9A73-9A9C7C6BF2D3}"/>
              </a:ext>
            </a:extLst>
          </p:cNvPr>
          <p:cNvSpPr/>
          <p:nvPr/>
        </p:nvSpPr>
        <p:spPr>
          <a:xfrm>
            <a:off x="305992" y="6555971"/>
            <a:ext cx="2121755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lvl="0" algn="l" defTabSz="685800">
              <a:lnSpc>
                <a:spcPct val="85000"/>
              </a:lnSpc>
              <a:defRPr/>
            </a:pPr>
            <a:r>
              <a:rPr lang="en-US" sz="600" kern="0" dirty="0">
                <a:solidFill>
                  <a:srgbClr val="00458D"/>
                </a:solidFill>
                <a:latin typeface="+mj-lt"/>
                <a:cs typeface="Arial" panose="020B0604020202020204" pitchFamily="34" charset="0"/>
              </a:rPr>
              <a:t>Presentation Title | Author | Date</a:t>
            </a:r>
          </a:p>
        </p:txBody>
      </p:sp>
      <p:sp>
        <p:nvSpPr>
          <p:cNvPr id="22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/>
        </p:nvSpPr>
        <p:spPr>
          <a:xfrm>
            <a:off x="2558534" y="6555758"/>
            <a:ext cx="1667765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6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2013 Capgemini. All rights reserved.</a:t>
            </a:r>
          </a:p>
        </p:txBody>
      </p:sp>
      <p:pic>
        <p:nvPicPr>
          <p:cNvPr id="23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1836" t="-4713" b="16530"/>
          <a:stretch/>
        </p:blipFill>
        <p:spPr>
          <a:xfrm>
            <a:off x="8660845" y="188640"/>
            <a:ext cx="318267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2443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79376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1828800"/>
            <a:ext cx="2003192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54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7009788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28800"/>
            <a:ext cx="2286000" cy="15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721756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28800"/>
            <a:ext cx="2286000" cy="16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58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9150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8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5725"/>
            <a:ext cx="91440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D:\Temlates\Capgemini_logo_pm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770562"/>
            <a:ext cx="166846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6246813"/>
            <a:ext cx="2163762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000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366C6B93-5A4F-43B7-84C4-C42EC870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8595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ts val="2250"/>
              </a:lnSpc>
            </a:pPr>
            <a:r>
              <a:rPr lang="en-US"/>
              <a:t>Click to edit Master title style</a:t>
            </a:r>
            <a:endParaRPr lang="pt-PT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F310831-D03E-404B-934F-73B268225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801" y="1412876"/>
            <a:ext cx="8528209" cy="43513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81836" t="-4713" b="16530"/>
          <a:stretch/>
        </p:blipFill>
        <p:spPr>
          <a:xfrm>
            <a:off x="8660845" y="188640"/>
            <a:ext cx="318267" cy="45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2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pt-PT" sz="20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5022" indent="-171450" algn="l" defTabSz="685800" rtl="0" eaLnBrk="1" latinLnBrk="0" hangingPunct="1">
        <a:lnSpc>
          <a:spcPts val="1350"/>
        </a:lnSpc>
        <a:spcBef>
          <a:spcPts val="0"/>
        </a:spcBef>
        <a:spcAft>
          <a:spcPts val="45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171450" algn="l" defTabSz="685800" rtl="0" eaLnBrk="1" latinLnBrk="0" hangingPunct="1">
        <a:lnSpc>
          <a:spcPts val="1200"/>
        </a:lnSpc>
        <a:spcBef>
          <a:spcPts val="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17922" indent="-175022" algn="l" defTabSz="685800" rtl="0" eaLnBrk="1" latinLnBrk="0" hangingPunct="1">
        <a:lnSpc>
          <a:spcPts val="1050"/>
        </a:lnSpc>
        <a:spcBef>
          <a:spcPts val="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82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7423">
          <p15:clr>
            <a:srgbClr val="F26B43"/>
          </p15:clr>
        </p15:guide>
        <p15:guide id="3" pos="257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11560" y="3284984"/>
            <a:ext cx="5580112" cy="792088"/>
          </a:xfrm>
        </p:spPr>
        <p:txBody>
          <a:bodyPr/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Core Java 8 Lesson 00: Java SE 8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</a:rPr>
            </a:b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578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 History</a:t>
            </a:r>
            <a:endParaRPr lang="en-US" sz="2400" dirty="0"/>
          </a:p>
        </p:txBody>
      </p:sp>
      <p:graphicFrame>
        <p:nvGraphicFramePr>
          <p:cNvPr id="5" name="Group 5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978274"/>
              </p:ext>
            </p:extLst>
          </p:nvPr>
        </p:nvGraphicFramePr>
        <p:xfrm>
          <a:off x="298450" y="1628800"/>
          <a:ext cx="7873952" cy="4611108"/>
        </p:xfrm>
        <a:graphic>
          <a:graphicData uri="http://schemas.openxmlformats.org/drawingml/2006/table">
            <a:tbl>
              <a:tblPr/>
              <a:tblGrid>
                <a:gridCol w="699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9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5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Date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Course Version No.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Software Version No.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Developer / SME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Reviewer(s)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Approver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 Record Remarks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12-Oct–2009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Anitha, Habib &amp; Mahima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Revamped from J2SE 1.4 to J2SE 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23-Oct-2009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CLS Team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Review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 Jul 2011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Shrilata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Changes in material made based on integration process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51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 Mar 2015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Vinod Satpute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Changes made to include new features of Java version 6,3 and 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51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25-May-2016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Tanmaya Acharya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Uma Ponniamman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Nischal Topno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Manisha Surve 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Krishnanand</a:t>
                      </a:r>
                      <a:r>
                        <a:rPr lang="en-US" sz="8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Diwekar</a:t>
                      </a:r>
                      <a:endParaRPr 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Yeldo Varghese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Shefali Kunder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Sagar Kulkarni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Avdhut Shedge 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Ashish Minocha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Balasubrahmanyam Poluri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Nitin Ghate </a:t>
                      </a:r>
                    </a:p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Ashish Minocha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Mahima Sharma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Changes made as per the ELT integrated TOC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 History</a:t>
            </a:r>
            <a:endParaRPr lang="en-US" sz="2400" dirty="0"/>
          </a:p>
        </p:txBody>
      </p:sp>
      <p:graphicFrame>
        <p:nvGraphicFramePr>
          <p:cNvPr id="5" name="Group 5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214866"/>
              </p:ext>
            </p:extLst>
          </p:nvPr>
        </p:nvGraphicFramePr>
        <p:xfrm>
          <a:off x="298449" y="1628799"/>
          <a:ext cx="7801943" cy="1766598"/>
        </p:xfrm>
        <a:graphic>
          <a:graphicData uri="http://schemas.openxmlformats.org/drawingml/2006/table">
            <a:tbl>
              <a:tblPr/>
              <a:tblGrid>
                <a:gridCol w="69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9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76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Date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Course Version No.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Software Version No.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Developer / SME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Reviewer(s)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Approver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 Record Remarks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4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Apr-2018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Vaishali Srivastava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Revamped from J2SE 1.4 to J2SE 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4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Jul-2020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8.0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1.8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Vaishali Srivastava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Anjulata/Kavita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Mahima Sharma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Revamped  as per TOC of immersive model</a:t>
                      </a:r>
                    </a:p>
                  </a:txBody>
                  <a:tcPr marL="98283" marR="98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7022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Goals and Non Goals</a:t>
            </a:r>
            <a:endParaRPr lang="en-US" sz="24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8516" y="1628800"/>
            <a:ext cx="6505732" cy="4509717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Course Goals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Implementing OOPs features in Java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Developing Java Desktop Applications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Use of Core JDK 1.8 API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Testing using Junit 4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Implementing Multithreading</a:t>
            </a:r>
          </a:p>
          <a:p>
            <a:pPr marL="171450" lvl="2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Course Non Goals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Developing GUI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Pre-requisites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Programming Concepts</a:t>
            </a:r>
          </a:p>
          <a:p>
            <a:r>
              <a:rPr lang="en-US" dirty="0"/>
              <a:t>OOPs</a:t>
            </a:r>
          </a:p>
          <a:p>
            <a:r>
              <a:rPr lang="en-US" dirty="0"/>
              <a:t>XML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Intended Audience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Developers new to Java technology </a:t>
            </a:r>
          </a:p>
          <a:p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43800" y="1219200"/>
            <a:ext cx="10001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90268"/>
          </a:xfrm>
        </p:spPr>
        <p:txBody>
          <a:bodyPr>
            <a:normAutofit/>
          </a:bodyPr>
          <a:lstStyle/>
          <a:p>
            <a:r>
              <a:rPr lang="en-US" dirty="0"/>
              <a:t>Day Wise Schedule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052736"/>
            <a:ext cx="7488832" cy="5256584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Day 1</a:t>
            </a:r>
          </a:p>
          <a:p>
            <a:pPr lvl="2"/>
            <a:r>
              <a:rPr lang="en-US" sz="1600" dirty="0"/>
              <a:t>Lesson 1: Introduction to Java</a:t>
            </a:r>
          </a:p>
          <a:p>
            <a:pPr lvl="2"/>
            <a:r>
              <a:rPr lang="en-US" sz="1600" dirty="0"/>
              <a:t>Lesson 2: Eclipse 4.4 (Luna) as an IDE</a:t>
            </a:r>
          </a:p>
          <a:p>
            <a:pPr lvl="2"/>
            <a:r>
              <a:rPr lang="en-US" sz="1600" dirty="0"/>
              <a:t>Lesson 3: Java Language Fundamentals</a:t>
            </a:r>
          </a:p>
          <a:p>
            <a:r>
              <a:rPr lang="en-US" dirty="0"/>
              <a:t>Day 2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4: Declaration And Access Control</a:t>
            </a:r>
          </a:p>
          <a:p>
            <a:pPr lvl="2"/>
            <a:r>
              <a:rPr lang="en-US" sz="1600" dirty="0"/>
              <a:t>Lesson 4: Classes and Objects</a:t>
            </a:r>
          </a:p>
          <a:p>
            <a:r>
              <a:rPr lang="en-US" dirty="0"/>
              <a:t>Day 3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5: Exploring Basic Java Class Libraries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6: Array 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7: Assignments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7: Regular Expressions </a:t>
            </a:r>
          </a:p>
          <a:p>
            <a:r>
              <a:rPr lang="en-US" dirty="0"/>
              <a:t>Day 4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8: Inheritance and Polymorphism</a:t>
            </a:r>
          </a:p>
          <a:p>
            <a:pPr>
              <a:buClr>
                <a:schemeClr val="accent1">
                  <a:lumMod val="40000"/>
                  <a:lumOff val="60000"/>
                </a:schemeClr>
              </a:buClr>
            </a:pPr>
            <a:r>
              <a:rPr lang="en-US" dirty="0"/>
              <a:t>Day 5</a:t>
            </a:r>
          </a:p>
          <a:p>
            <a:pPr marL="460772" lvl="1" indent="-285750">
              <a:buClr>
                <a:schemeClr val="accent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/>
              <a:t>Lesson 9: Abstract Classes and Interfaces </a:t>
            </a:r>
          </a:p>
          <a:p>
            <a:r>
              <a:rPr lang="en-US" dirty="0"/>
              <a:t>Day 6  [</a:t>
            </a:r>
            <a:r>
              <a:rPr lang="en-US" dirty="0">
                <a:solidFill>
                  <a:srgbClr val="0070C0"/>
                </a:solidFill>
              </a:rPr>
              <a:t>Online</a:t>
            </a:r>
            <a:r>
              <a:rPr lang="en-US" dirty="0"/>
              <a:t>] 4 </a:t>
            </a:r>
            <a:r>
              <a:rPr lang="en-US" dirty="0" err="1"/>
              <a:t>Hrs</a:t>
            </a:r>
            <a:endParaRPr lang="en-US" dirty="0"/>
          </a:p>
          <a:p>
            <a:pPr lvl="2"/>
            <a:r>
              <a:rPr lang="en-US" sz="1600" dirty="0"/>
              <a:t>Lesson 10: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Day Wise Schedule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8772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Day 7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MCQ </a:t>
            </a:r>
            <a:r>
              <a:rPr lang="fr-FR" dirty="0" err="1">
                <a:solidFill>
                  <a:schemeClr val="accent3">
                    <a:lumMod val="50000"/>
                    <a:lumOff val="50000"/>
                  </a:schemeClr>
                </a:solidFill>
              </a:rPr>
              <a:t>Assessment</a:t>
            </a:r>
            <a:r>
              <a:rPr lang="fr-FR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 1 (20 questions)</a:t>
            </a:r>
            <a:endParaRPr lang="en-US" dirty="0"/>
          </a:p>
          <a:p>
            <a:pPr lvl="2"/>
            <a:r>
              <a:rPr lang="en-IN" sz="1600" dirty="0">
                <a:solidFill>
                  <a:srgbClr val="0070C0"/>
                </a:solidFill>
              </a:rPr>
              <a:t>Lesson 11 CoreJava8 - Collection and Generics[Online]</a:t>
            </a:r>
          </a:p>
          <a:p>
            <a:pPr marL="3572" lvl="1" indent="0">
              <a:buNone/>
            </a:pPr>
            <a:r>
              <a:rPr lang="en-US" dirty="0"/>
              <a:t>Day 8  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11 :Collection Recap[With Comparable, Comparator, equals ,Hash code ]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I/O and NIO [Self Reading]</a:t>
            </a:r>
          </a:p>
          <a:p>
            <a:r>
              <a:rPr lang="en-US" dirty="0"/>
              <a:t>Day 9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12: Multithreading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13: Concurrent Patterns In Java</a:t>
            </a:r>
          </a:p>
          <a:p>
            <a:r>
              <a:rPr lang="en-US" dirty="0"/>
              <a:t>Day 10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Lesson 14: Concurrent Collections In Java.[Self Reading]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14: Stream API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/>
              <a:t>Lesson 14: Lambda</a:t>
            </a:r>
          </a:p>
          <a:p>
            <a:pPr marL="460772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Maven   [Self Reading]</a:t>
            </a:r>
          </a:p>
          <a:p>
            <a:r>
              <a:rPr lang="en-US" dirty="0"/>
              <a:t>Day 11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Lesson 15:  TDD with Junit 5 [Online]</a:t>
            </a:r>
          </a:p>
          <a:p>
            <a:pPr marL="3572" lvl="1" indent="0">
              <a:buNone/>
            </a:pPr>
            <a:endParaRPr lang="en-US" dirty="0"/>
          </a:p>
          <a:p>
            <a:pPr marL="3572" lvl="1" indent="0">
              <a:buNone/>
            </a:pPr>
            <a:r>
              <a:rPr lang="en-US" dirty="0"/>
              <a:t>Day 12</a:t>
            </a:r>
          </a:p>
          <a:p>
            <a:pPr lvl="2"/>
            <a:r>
              <a:rPr lang="fr-FR" sz="1600" dirty="0">
                <a:solidFill>
                  <a:srgbClr val="0070C0"/>
                </a:solidFill>
              </a:rPr>
              <a:t>Oracle SQL[Online]</a:t>
            </a:r>
          </a:p>
          <a:p>
            <a:pPr lvl="2"/>
            <a:r>
              <a:rPr lang="en-US" sz="1600" dirty="0" err="1">
                <a:solidFill>
                  <a:srgbClr val="0070C0"/>
                </a:solidFill>
              </a:rPr>
              <a:t>Jdbc</a:t>
            </a:r>
            <a:r>
              <a:rPr lang="en-US" sz="1600" dirty="0">
                <a:solidFill>
                  <a:srgbClr val="0070C0"/>
                </a:solidFill>
              </a:rPr>
              <a:t>   [Self Learning]</a:t>
            </a:r>
          </a:p>
          <a:p>
            <a:pPr lvl="2"/>
            <a:endParaRPr lang="fr-FR" sz="1600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03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Day Wise Schedule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4006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Day 13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Jdbc</a:t>
            </a:r>
            <a:r>
              <a:rPr lang="en-US" dirty="0">
                <a:solidFill>
                  <a:srgbClr val="0070C0"/>
                </a:solidFill>
              </a:rPr>
              <a:t>   [Self Learning]</a:t>
            </a:r>
          </a:p>
          <a:p>
            <a:pPr lvl="1"/>
            <a:r>
              <a:rPr lang="en-IN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Core Java 8 practical Test on doselect</a:t>
            </a:r>
          </a:p>
          <a:p>
            <a:pPr lvl="1"/>
            <a:r>
              <a:rPr lang="fr-FR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MCQ Assessment 2 (20 </a:t>
            </a:r>
            <a:r>
              <a:rPr lang="fr-FR">
                <a:solidFill>
                  <a:schemeClr val="accent3">
                    <a:lumMod val="50000"/>
                    <a:lumOff val="50000"/>
                  </a:schemeClr>
                </a:solidFill>
              </a:rPr>
              <a:t>questions)</a:t>
            </a:r>
            <a:endParaRPr lang="en-US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0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90268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08720"/>
            <a:ext cx="7081796" cy="522979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Lesson 1: Introduction to Java</a:t>
            </a:r>
          </a:p>
          <a:p>
            <a:endParaRPr lang="en-US" dirty="0"/>
          </a:p>
          <a:p>
            <a:pPr lvl="2"/>
            <a:r>
              <a:rPr lang="en-US" sz="1600" dirty="0"/>
              <a:t>Introduction to Java                </a:t>
            </a:r>
          </a:p>
          <a:p>
            <a:pPr lvl="2"/>
            <a:r>
              <a:rPr lang="en-US" sz="1600" dirty="0"/>
              <a:t>Features of Java       </a:t>
            </a:r>
          </a:p>
          <a:p>
            <a:pPr lvl="2"/>
            <a:r>
              <a:rPr lang="en-US" sz="1600" dirty="0"/>
              <a:t>Simple Program  in Java</a:t>
            </a:r>
          </a:p>
          <a:p>
            <a:pPr lvl="2"/>
            <a:r>
              <a:rPr lang="en-US" sz="1600" dirty="0"/>
              <a:t>Developing software in Java</a:t>
            </a:r>
          </a:p>
          <a:p>
            <a:endParaRPr lang="en-US" dirty="0"/>
          </a:p>
          <a:p>
            <a:r>
              <a:rPr lang="en-US" dirty="0"/>
              <a:t>Lesson 2: Eclipse 4.4 (Luna) as an IDE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Installation and Setting up Eclipse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Introduction to Eclipse IDE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Creating and Managing Java Projects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Miscellaneous  Options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0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18260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8516" y="1052736"/>
            <a:ext cx="8845484" cy="5616624"/>
          </a:xfrm>
        </p:spPr>
        <p:txBody>
          <a:bodyPr/>
          <a:lstStyle/>
          <a:p>
            <a:endParaRPr lang="en-US" sz="2000" dirty="0"/>
          </a:p>
          <a:p>
            <a:r>
              <a:rPr lang="en-US" dirty="0"/>
              <a:t>Lesson 3: Language Fundamentals</a:t>
            </a:r>
          </a:p>
          <a:p>
            <a:pPr lvl="2"/>
            <a:r>
              <a:rPr lang="en-US" sz="1600" dirty="0"/>
              <a:t>Keywords </a:t>
            </a:r>
          </a:p>
          <a:p>
            <a:pPr lvl="2"/>
            <a:r>
              <a:rPr lang="en-US" sz="1600" dirty="0"/>
              <a:t>Primitive Data Types</a:t>
            </a:r>
          </a:p>
          <a:p>
            <a:pPr lvl="2"/>
            <a:r>
              <a:rPr lang="en-US" sz="1600" dirty="0"/>
              <a:t>Operators and Assignments </a:t>
            </a:r>
          </a:p>
          <a:p>
            <a:pPr lvl="2"/>
            <a:r>
              <a:rPr lang="en-US" sz="1600" dirty="0"/>
              <a:t>Variables and Literals </a:t>
            </a:r>
          </a:p>
          <a:p>
            <a:pPr lvl="2"/>
            <a:r>
              <a:rPr lang="en-US" sz="1600" dirty="0"/>
              <a:t>Flow Control: Java’s Control Statements</a:t>
            </a:r>
          </a:p>
          <a:p>
            <a:pPr lvl="2"/>
            <a:r>
              <a:rPr lang="en-US" sz="1600" dirty="0"/>
              <a:t>Best Practices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r>
              <a:rPr lang="en-US" dirty="0"/>
              <a:t>Lesson 4: Classes and Objects</a:t>
            </a:r>
          </a:p>
          <a:p>
            <a:pPr lvl="2"/>
            <a:r>
              <a:rPr lang="en-US" sz="1600" dirty="0"/>
              <a:t>Classes and Objects</a:t>
            </a:r>
          </a:p>
          <a:p>
            <a:pPr lvl="2"/>
            <a:r>
              <a:rPr lang="en-US" sz="1600" dirty="0"/>
              <a:t>Packages</a:t>
            </a:r>
          </a:p>
          <a:p>
            <a:pPr lvl="2"/>
            <a:r>
              <a:rPr lang="en-US" sz="1600" dirty="0"/>
              <a:t>Access Specifiers </a:t>
            </a:r>
          </a:p>
          <a:p>
            <a:pPr lvl="2"/>
            <a:r>
              <a:rPr lang="en-US" sz="1600" dirty="0"/>
              <a:t>Constructors - Default and Parameterized</a:t>
            </a:r>
          </a:p>
          <a:p>
            <a:pPr lvl="2"/>
            <a:r>
              <a:rPr lang="en-US" sz="1600" dirty="0"/>
              <a:t>this reference </a:t>
            </a:r>
          </a:p>
          <a:p>
            <a:pPr lvl="2"/>
            <a:r>
              <a:rPr lang="en-US" sz="1600" dirty="0"/>
              <a:t>Memory management in java </a:t>
            </a:r>
          </a:p>
          <a:p>
            <a:pPr lvl="2"/>
            <a:r>
              <a:rPr lang="en-US" sz="1600" dirty="0"/>
              <a:t>using static keyword</a:t>
            </a:r>
          </a:p>
          <a:p>
            <a:pPr lvl="2"/>
            <a:r>
              <a:rPr lang="en-US" sz="1600" dirty="0" err="1"/>
              <a:t>Enum</a:t>
            </a:r>
            <a:endParaRPr lang="en-US" sz="1600" dirty="0"/>
          </a:p>
          <a:p>
            <a:pPr lvl="2"/>
            <a:r>
              <a:rPr lang="en-US" sz="1600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4084340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18260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400600"/>
          </a:xfrm>
        </p:spPr>
        <p:txBody>
          <a:bodyPr/>
          <a:lstStyle/>
          <a:p>
            <a:endParaRPr lang="en-US" sz="2000" dirty="0"/>
          </a:p>
          <a:p>
            <a:r>
              <a:rPr lang="en-US" dirty="0"/>
              <a:t>Lesson 5: Exploring Basic Java Class Libraries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Object Class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Wrapper Classes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Type casting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Using Scanner Class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System Class                           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String Handling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Date and Time API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Best Practices</a:t>
            </a:r>
          </a:p>
          <a:p>
            <a:pPr marL="3572" lvl="1" indent="0">
              <a:buNone/>
            </a:pPr>
            <a:endParaRPr lang="en-US" dirty="0"/>
          </a:p>
          <a:p>
            <a:r>
              <a:rPr lang="en-US" dirty="0"/>
              <a:t>Lesson 6: Arrays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Understand the different  types of Arrays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Implement one and multi dimensional arrays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Iterate arrays using loops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varargs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Work with </a:t>
            </a:r>
            <a:r>
              <a:rPr lang="en-US" dirty="0" err="1"/>
              <a:t>java.util.Arrays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90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18260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4006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dirty="0"/>
              <a:t>Lesson 7: Regular Expressions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Regular Expressions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Validating data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Best Practices</a:t>
            </a:r>
          </a:p>
          <a:p>
            <a:pPr marL="3572" lvl="1" indent="0">
              <a:buNone/>
            </a:pPr>
            <a:endParaRPr lang="en-US" dirty="0"/>
          </a:p>
          <a:p>
            <a:r>
              <a:rPr lang="en-US" dirty="0"/>
              <a:t>Lesson 7: Assignments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Stack and Heap—Quick Review 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Literals, Assignments, and Variables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Assignment Operators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Casting Primitives 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Using a Variable or Array Element That Is Uninitialized and Unassigned 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Local (Stack, Automatic) Primitives and Objects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Passing Variables into Methods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Passing Object Reference Variables</a:t>
            </a:r>
          </a:p>
        </p:txBody>
      </p:sp>
    </p:spTree>
    <p:extLst>
      <p:ext uri="{BB962C8B-B14F-4D97-AF65-F5344CB8AC3E}">
        <p14:creationId xmlns:p14="http://schemas.microsoft.com/office/powerpoint/2010/main" val="2535269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18260"/>
          </a:xfrm>
        </p:spPr>
        <p:txBody>
          <a:bodyPr>
            <a:normAutofit/>
          </a:bodyPr>
          <a:lstStyle/>
          <a:p>
            <a:r>
              <a:rPr lang="en-US" dirty="0"/>
              <a:t>Table of Co</a:t>
            </a:r>
            <a:r>
              <a:rPr lang="en-US" dirty="0">
                <a:solidFill>
                  <a:srgbClr val="0070AD"/>
                </a:solidFill>
              </a:rPr>
              <a:t>nten</a:t>
            </a:r>
            <a:r>
              <a:rPr lang="en-US" dirty="0"/>
              <a:t>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4006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dirty="0"/>
              <a:t>Lesson 7: Assignments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Does Java Use Pass-By-Value Semantics? </a:t>
            </a:r>
            <a:endParaRPr lang="en-US" sz="1400" dirty="0"/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Passing Primitive Variables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Array Declaration, Construction, and Initialization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Initializing Blocks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Using Wrapper Classes and Boxing </a:t>
            </a:r>
            <a:endParaRPr lang="en-US" sz="1400" dirty="0"/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An Overview of the Wrapper Classes </a:t>
            </a:r>
            <a:endParaRPr lang="en-US" sz="1400" dirty="0"/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Creating Wrapper Objects </a:t>
            </a:r>
            <a:endParaRPr lang="en-US" sz="1400" dirty="0"/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Using Wrapper Conversion Utilities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Auto Boxing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Overloading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Garbage Collection and memory Management</a:t>
            </a:r>
          </a:p>
          <a:p>
            <a:pPr marL="460772" lvl="1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Writing Code That Explicitly Makes Objects Eligible for Garbage Collection </a:t>
            </a:r>
          </a:p>
        </p:txBody>
      </p:sp>
    </p:spTree>
    <p:extLst>
      <p:ext uri="{BB962C8B-B14F-4D97-AF65-F5344CB8AC3E}">
        <p14:creationId xmlns:p14="http://schemas.microsoft.com/office/powerpoint/2010/main" val="1235267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18260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4006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Lesson 8: Inheritance and Polymorphism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Inheritance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Using super keyword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Instance Of Operator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 &amp; Constructor overloading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 overriding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@override annotation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Using final keyword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Lesson 9: Abstract Classes and Interfaces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Abstract class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Interfaces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default methods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static methods on Interface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Interface rules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Abstract class Vs Interface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Runtime Polymorphism</a:t>
            </a:r>
          </a:p>
          <a:p>
            <a:pPr marL="357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51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490268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08720"/>
            <a:ext cx="8845484" cy="5760640"/>
          </a:xfrm>
        </p:spPr>
        <p:txBody>
          <a:bodyPr/>
          <a:lstStyle/>
          <a:p>
            <a:r>
              <a:rPr lang="en-US" dirty="0"/>
              <a:t>Lesson 10: Exception Handling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Exception Types and Exception Hierarchy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Try-catch-finally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Try-with-resources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Multi catch blocks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Throwing exceptions using throw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Declaring exceptions using throws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User defined Exceptions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Best Practices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Lesson 11: Collection</a:t>
            </a:r>
          </a:p>
          <a:p>
            <a:pPr lvl="1"/>
            <a:r>
              <a:rPr lang="en-US" dirty="0"/>
              <a:t>Collections Framework        </a:t>
            </a:r>
          </a:p>
          <a:p>
            <a:pPr lvl="1"/>
            <a:r>
              <a:rPr lang="en-US" dirty="0"/>
              <a:t>Collection Interfaces</a:t>
            </a:r>
          </a:p>
          <a:p>
            <a:pPr lvl="1"/>
            <a:r>
              <a:rPr lang="en-US" dirty="0"/>
              <a:t>Iterating Collections </a:t>
            </a:r>
          </a:p>
          <a:p>
            <a:pPr lvl="1"/>
            <a:r>
              <a:rPr lang="en-US" dirty="0"/>
              <a:t>Implementing Classes </a:t>
            </a:r>
          </a:p>
          <a:p>
            <a:pPr lvl="1"/>
            <a:r>
              <a:rPr lang="en-US" dirty="0"/>
              <a:t>Comparable and Comparator</a:t>
            </a:r>
          </a:p>
          <a:p>
            <a:pPr lvl="1"/>
            <a:r>
              <a:rPr lang="en-US" dirty="0"/>
              <a:t>Map implementation</a:t>
            </a:r>
          </a:p>
          <a:p>
            <a:pPr lvl="1"/>
            <a:r>
              <a:rPr lang="en-US" dirty="0"/>
              <a:t>Legacy classes </a:t>
            </a:r>
          </a:p>
          <a:p>
            <a:pPr lvl="1"/>
            <a:r>
              <a:rPr lang="en-US" dirty="0"/>
              <a:t>Common Best Practices on Collections</a:t>
            </a:r>
            <a:endParaRPr lang="en-US" b="1" dirty="0"/>
          </a:p>
          <a:p>
            <a:pPr lvl="1"/>
            <a:r>
              <a:rPr lang="en-US" dirty="0"/>
              <a:t>Generics</a:t>
            </a:r>
          </a:p>
          <a:p>
            <a:pPr lvl="1"/>
            <a:r>
              <a:rPr lang="en-US" dirty="0"/>
              <a:t>Writing Generic Classes</a:t>
            </a:r>
          </a:p>
          <a:p>
            <a:pPr lvl="1"/>
            <a:r>
              <a:rPr lang="en-US" dirty="0"/>
              <a:t>Using Generics with Collections</a:t>
            </a:r>
          </a:p>
          <a:p>
            <a:pPr marL="357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9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9801" y="418452"/>
            <a:ext cx="8312649" cy="346252"/>
          </a:xfrm>
        </p:spPr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980728"/>
            <a:ext cx="8845484" cy="5544616"/>
          </a:xfrm>
        </p:spPr>
        <p:txBody>
          <a:bodyPr/>
          <a:lstStyle/>
          <a:p>
            <a:r>
              <a:rPr lang="en-US" dirty="0"/>
              <a:t>Lesson 12: Multithreading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Understanding Threads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Thread life cycle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Scheduling threads- Priorities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Controlling  threads  using sleep(),join()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Lesson 13: Concurrent Patterns in Java 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Executors, What Is Wrong with the Runnable Pattern?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Defining the Executor Pattern: A New Pattern to Launch Threads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Defining the Executor Service Pattern, a First Simple Example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Comparing the Runnable and the Executor Service Patterns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the Waiting Queue of the Executor Service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Wrapping-up the Executor Service Pattern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From Runnable to Callable: What Is Wrong with Runnable?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Defining a New Model for Tasks That Return Objects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the Callable Interface to Model Task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the Future Object to Transmit Objects Between Thread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Wrapping-up Callable and Futures, Handling Exceptions</a:t>
            </a:r>
          </a:p>
          <a:p>
            <a:pPr lvl="3">
              <a:buFont typeface="Arial" panose="020B0604020202020204" pitchFamily="34" charset="0"/>
              <a:buChar char="•"/>
            </a:pPr>
            <a:endParaRPr lang="en-US" dirty="0"/>
          </a:p>
          <a:p>
            <a:pPr marL="357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9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124744"/>
            <a:ext cx="8568952" cy="4941765"/>
          </a:xfrm>
        </p:spPr>
        <p:txBody>
          <a:bodyPr>
            <a:normAutofit/>
          </a:bodyPr>
          <a:lstStyle/>
          <a:p>
            <a:r>
              <a:rPr lang="en-US" dirty="0"/>
              <a:t>Lesson 14: Concurrent Collections in Java 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Implementing Concurrency at the API Level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Hierarchy of Collection and Map, Concurrent Interfaces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What Does It Mean for an Interface to Be Concurrent?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Why You Should Avoid Vectors and Stacks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Copy On Write Arrays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Queue and </a:t>
            </a:r>
            <a:r>
              <a:rPr lang="en-US" sz="1600" dirty="0" err="1"/>
              <a:t>Deque</a:t>
            </a:r>
            <a:r>
              <a:rPr lang="en-US" sz="1600" dirty="0"/>
              <a:t>, and Their Implementations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How Queue Works in a Concurrent Environment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Adding Elements to a Queue That Is Full: How Can It Fail?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Error Handling in Queue and </a:t>
            </a:r>
            <a:r>
              <a:rPr lang="en-US" sz="1600" dirty="0" err="1"/>
              <a:t>Deque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Concurrent Maps and Their Implementations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Atomic Operations Defined by the </a:t>
            </a:r>
            <a:r>
              <a:rPr lang="en-US" sz="1600" dirty="0" err="1"/>
              <a:t>ConcurrentMap</a:t>
            </a:r>
            <a:r>
              <a:rPr lang="en-US" sz="1600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1794262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8516" y="1494766"/>
            <a:ext cx="8449948" cy="4643751"/>
          </a:xfrm>
        </p:spPr>
        <p:txBody>
          <a:bodyPr>
            <a:normAutofit/>
          </a:bodyPr>
          <a:lstStyle/>
          <a:p>
            <a:r>
              <a:rPr lang="en-US" dirty="0"/>
              <a:t>Lesson 14: Concurrent Collections in Java 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Concurrency for a </a:t>
            </a:r>
            <a:r>
              <a:rPr lang="en-US" sz="1600" dirty="0" err="1"/>
              <a:t>HashMap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the Structure of the </a:t>
            </a:r>
            <a:r>
              <a:rPr lang="en-US" sz="1600" dirty="0" err="1"/>
              <a:t>ConcurrentHashMap</a:t>
            </a:r>
            <a:r>
              <a:rPr lang="en-US" sz="1600" dirty="0"/>
              <a:t> from Java 7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the Java 8 </a:t>
            </a:r>
            <a:r>
              <a:rPr lang="en-US" sz="1600" dirty="0" err="1"/>
              <a:t>ConcurrentHashMap</a:t>
            </a:r>
            <a:r>
              <a:rPr lang="en-US" sz="1600" dirty="0"/>
              <a:t> and Its Parallel Methods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Parallel Search on a Java 8 </a:t>
            </a:r>
            <a:r>
              <a:rPr lang="en-US" sz="1600" dirty="0" err="1"/>
              <a:t>ConcurrentHashMap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Parallel Map / Reduce on a Java 8 </a:t>
            </a:r>
            <a:r>
              <a:rPr lang="en-US" sz="1600" dirty="0" err="1"/>
              <a:t>ConcurrentHashMap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Parallel </a:t>
            </a:r>
            <a:r>
              <a:rPr lang="en-US" sz="1600" dirty="0" err="1"/>
              <a:t>ForEach</a:t>
            </a:r>
            <a:r>
              <a:rPr lang="en-US" sz="1600" dirty="0"/>
              <a:t> on a Java 8 </a:t>
            </a:r>
            <a:r>
              <a:rPr lang="en-US" sz="1600" dirty="0" err="1"/>
              <a:t>ConcurrentHashMap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Creating a Concurrent Set on a Java 8 </a:t>
            </a:r>
            <a:r>
              <a:rPr lang="en-US" sz="1600" dirty="0" err="1"/>
              <a:t>ConcurrentHashMap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Introducing Skip Lists to Implement </a:t>
            </a:r>
            <a:r>
              <a:rPr lang="en-US" sz="1600" dirty="0" err="1"/>
              <a:t>ConcurrentMap</a:t>
            </a: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Understanding How Linked Lists Can Be Improved by Skip Lists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How to Make a Skip List Concurrent Without Synchronization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02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187" y="764704"/>
            <a:ext cx="8845484" cy="6093296"/>
          </a:xfrm>
        </p:spPr>
        <p:txBody>
          <a:bodyPr/>
          <a:lstStyle/>
          <a:p>
            <a:pPr lvl="1"/>
            <a:endParaRPr lang="en-US" sz="1600" dirty="0">
              <a:solidFill>
                <a:schemeClr val="tx1"/>
              </a:solidFill>
            </a:endParaRPr>
          </a:p>
          <a:p>
            <a:r>
              <a:rPr lang="en-US" dirty="0"/>
              <a:t>Lesson 15 : Introduction to Junit 4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Types of Tests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Why Unit Tests Are Important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What's JUnit?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JUnit 5 Architecture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IDEs and Build Tool Support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Setting up JUnit with Maven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Lifecycle Methods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Test Hierarchies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Assertions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Disabling Tests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 err="1"/>
              <a:t>AssumptionsTest</a:t>
            </a:r>
            <a:r>
              <a:rPr lang="en-US" sz="1400" dirty="0"/>
              <a:t> Interfaces and Default Methods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Repeating Tests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Dynamic Tests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Parameterized Tests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Argument Sources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TDD Introduction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Types of Testing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Testing Frameworks and Tools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Testing </a:t>
            </a:r>
            <a:r>
              <a:rPr lang="en-US" sz="1400" dirty="0" err="1"/>
              <a:t>Concepts,Mockito</a:t>
            </a:r>
            <a:r>
              <a:rPr lang="en-US" sz="1400" dirty="0"/>
              <a:t> </a:t>
            </a:r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Clr>
                <a:srgbClr val="0070AD"/>
              </a:buCl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0715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Books:</a:t>
            </a:r>
          </a:p>
          <a:p>
            <a:pPr lvl="1"/>
            <a:r>
              <a:rPr lang="en-US" dirty="0"/>
              <a:t>Java, The Complete Reference; by Herbert </a:t>
            </a:r>
            <a:r>
              <a:rPr lang="en-US" dirty="0" err="1"/>
              <a:t>Schildt</a:t>
            </a:r>
            <a:endParaRPr lang="en-US" dirty="0"/>
          </a:p>
          <a:p>
            <a:pPr lvl="1"/>
            <a:r>
              <a:rPr lang="en-US" dirty="0"/>
              <a:t>Thinking in Java; by Bruce </a:t>
            </a:r>
            <a:r>
              <a:rPr lang="en-US" dirty="0" err="1"/>
              <a:t>Eckel</a:t>
            </a:r>
            <a:endParaRPr lang="en-US" dirty="0"/>
          </a:p>
          <a:p>
            <a:pPr lvl="1"/>
            <a:r>
              <a:rPr lang="en-US" dirty="0"/>
              <a:t>Beginning Java 8 Fundamentals by </a:t>
            </a:r>
            <a:r>
              <a:rPr lang="en-US" dirty="0" err="1"/>
              <a:t>Kishori</a:t>
            </a:r>
            <a:r>
              <a:rPr lang="en-US" dirty="0"/>
              <a:t> </a:t>
            </a:r>
            <a:r>
              <a:rPr lang="en-US" dirty="0" err="1"/>
              <a:t>Sharan</a:t>
            </a:r>
            <a:endParaRPr lang="en-US" dirty="0"/>
          </a:p>
          <a:p>
            <a:r>
              <a:rPr lang="en-US" dirty="0"/>
              <a:t>Websites:</a:t>
            </a:r>
          </a:p>
          <a:p>
            <a:pPr lvl="1"/>
            <a:r>
              <a:rPr lang="en-US" dirty="0"/>
              <a:t>Java home page: http://java.sun.com/ </a:t>
            </a:r>
          </a:p>
          <a:p>
            <a:pPr lvl="1"/>
            <a:r>
              <a:rPr lang="en-US" dirty="0"/>
              <a:t>JDK 1.8 documentation: http://docs.oracle.com/javase/8/docs/</a:t>
            </a:r>
          </a:p>
          <a:p>
            <a:pPr lvl="1"/>
            <a:r>
              <a:rPr lang="en-US" dirty="0"/>
              <a:t>Multithreading  : https://docs.oracle.com/javase/tutorial/essential/concurrency/index.html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Next Step Courses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Servlets</a:t>
            </a:r>
          </a:p>
          <a:p>
            <a:r>
              <a:rPr lang="en-US" dirty="0"/>
              <a:t>JSP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Parallel Technology Areas</a:t>
            </a:r>
            <a:endParaRPr 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C ++</a:t>
            </a:r>
          </a:p>
          <a:p>
            <a:r>
              <a:rPr lang="nl-NL" dirty="0"/>
              <a:t>C#.Net</a:t>
            </a:r>
          </a:p>
          <a:p>
            <a:r>
              <a:rPr lang="nl-NL" dirty="0"/>
              <a:t>Visual Basic.Net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nDl6hGIEiK2JQntAZn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heme/theme1.xml><?xml version="1.0" encoding="utf-8"?>
<a:theme xmlns:a="http://schemas.openxmlformats.org/drawingml/2006/main" name="Section slides">
  <a:themeElements>
    <a:clrScheme name="New-CG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C2CF00"/>
      </a:accent6>
      <a:hlink>
        <a:srgbClr val="005481"/>
      </a:hlink>
      <a:folHlink>
        <a:srgbClr val="861763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format [Read-Only]" id="{3F39FC77-78A4-42E0-8877-CB89A3A885F5}" vid="{863634A9-CC01-474D-9CF3-F3EB4EAFFF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DCDateModified xmlns="http://schemas.microsoft.com/sharepoint/v3/fields" xsi:nil="true"/>
    <Material_x0020_Type xmlns="26bed2a0-a239-4228-bd8e-b46f54fc12da">Class book</Material_x0020_Type>
    <Category xmlns="26bed2a0-a239-4228-bd8e-b46f54fc12da">Module Artifact</Category>
    <Level xmlns="26bed2a0-a239-4228-bd8e-b46f54fc12da">L1</Leve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4F797F9BD2124B9B89E1787624A7F8" ma:contentTypeVersion="9" ma:contentTypeDescription="Create a new document." ma:contentTypeScope="" ma:versionID="47f4cee75829005120e89cd2469d13d7">
  <xsd:schema xmlns:xsd="http://www.w3.org/2001/XMLSchema" xmlns:xs="http://www.w3.org/2001/XMLSchema" xmlns:p="http://schemas.microsoft.com/office/2006/metadata/properties" xmlns:ns2="http://schemas.microsoft.com/sharepoint/v3/fields" xmlns:ns3="26bed2a0-a239-4228-bd8e-b46f54fc12da" targetNamespace="http://schemas.microsoft.com/office/2006/metadata/properties" ma:root="true" ma:fieldsID="e30c8c25242ea639c89cd63a34a535c3" ns2:_="" ns3:_="">
    <xsd:import namespace="http://schemas.microsoft.com/sharepoint/v3/fields"/>
    <xsd:import namespace="26bed2a0-a239-4228-bd8e-b46f54fc12da"/>
    <xsd:element name="properties">
      <xsd:complexType>
        <xsd:sequence>
          <xsd:element name="documentManagement">
            <xsd:complexType>
              <xsd:all>
                <xsd:element ref="ns2:_Version" minOccurs="0"/>
                <xsd:element ref="ns3:Level"/>
                <xsd:element ref="ns3:Category"/>
                <xsd:element ref="ns2:_DCDateModified" minOccurs="0"/>
                <xsd:element ref="ns3:Material_x0020_Type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8" nillable="true" ma:displayName="Version" ma:internalName="_Version">
      <xsd:simpleType>
        <xsd:restriction base="dms:Text"/>
      </xsd:simpleType>
    </xsd:element>
    <xsd:element name="_DCDateModified" ma:index="11" nillable="true" ma:displayName="Date Modified" ma:description="The date on which this resource was last modified" ma:format="DateTime" ma:internalName="_DCDateModifi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ed2a0-a239-4228-bd8e-b46f54fc12da" elementFormDefault="qualified">
    <xsd:import namespace="http://schemas.microsoft.com/office/2006/documentManagement/types"/>
    <xsd:import namespace="http://schemas.microsoft.com/office/infopath/2007/PartnerControls"/>
    <xsd:element name="Level" ma:index="9" ma:displayName="Level" ma:format="Dropdown" ma:internalName="Level">
      <xsd:simpleType>
        <xsd:restriction base="dms:Choice">
          <xsd:enumeration value="L1"/>
          <xsd:enumeration value="L2"/>
          <xsd:enumeration value="L3"/>
          <xsd:enumeration value="L4"/>
          <xsd:enumeration value="Common"/>
        </xsd:restriction>
      </xsd:simpleType>
    </xsd:element>
    <xsd:element name="Category" ma:index="10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2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3433B7-998A-4D4C-91CD-BC966B06FCAD}">
  <ds:schemaRefs>
    <ds:schemaRef ds:uri="http://schemas.microsoft.com/office/2006/metadata/properties"/>
    <ds:schemaRef ds:uri="http://schemas.microsoft.com/office/infopath/2007/PartnerControls"/>
    <ds:schemaRef ds:uri="f9b258c7-9c72-463b-80f6-91d061ebb25d"/>
    <ds:schemaRef ds:uri="http://schemas.microsoft.com/sharepoint/v3/fields"/>
    <ds:schemaRef ds:uri="26bed2a0-a239-4228-bd8e-b46f54fc12da"/>
  </ds:schemaRefs>
</ds:datastoreItem>
</file>

<file path=customXml/itemProps2.xml><?xml version="1.0" encoding="utf-8"?>
<ds:datastoreItem xmlns:ds="http://schemas.openxmlformats.org/officeDocument/2006/customXml" ds:itemID="{7F5FCE19-5162-4ADE-8C42-7604070C6E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26bed2a0-a239-4228-bd8e-b46f54fc12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D7665F-8C87-49F1-94B0-6D13FB5E12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5980</TotalTime>
  <Words>1341</Words>
  <Application>Microsoft Office PowerPoint</Application>
  <PresentationFormat>On-screen Show (4:3)</PresentationFormat>
  <Paragraphs>342</Paragraphs>
  <Slides>23</Slides>
  <Notes>22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Verdana</vt:lpstr>
      <vt:lpstr>Wingdings</vt:lpstr>
      <vt:lpstr>Section slides</vt:lpstr>
      <vt:lpstr>think-cell Slide</vt:lpstr>
      <vt:lpstr>Core Java 8 Lesson 00: Java SE 8 </vt:lpstr>
      <vt:lpstr>Document History</vt:lpstr>
      <vt:lpstr>Document History</vt:lpstr>
      <vt:lpstr>Course Goals and Non Goals</vt:lpstr>
      <vt:lpstr>Pre-requisites</vt:lpstr>
      <vt:lpstr>Intended Audience</vt:lpstr>
      <vt:lpstr>Day Wise Schedule</vt:lpstr>
      <vt:lpstr>Day Wise Schedule</vt:lpstr>
      <vt:lpstr>Day Wise Schedule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References</vt:lpstr>
      <vt:lpstr>Next Step Courses</vt:lpstr>
      <vt:lpstr>Other Parallel Technology Areas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ClassBook-Lesson0-Template IGATE</dc:title>
  <dc:creator>vs823751</dc:creator>
  <cp:lastModifiedBy>Ramesh, Suganthalakshmi</cp:lastModifiedBy>
  <cp:revision>306</cp:revision>
  <cp:lastPrinted>2016-07-11T08:01:24Z</cp:lastPrinted>
  <dcterms:created xsi:type="dcterms:W3CDTF">2014-04-28T11:21:39Z</dcterms:created>
  <dcterms:modified xsi:type="dcterms:W3CDTF">2020-09-17T13:06:27Z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0x010100064F797F9BD2124B9B89E1787624A7F8</vt:lpwstr>
  </property>
</Properties>
</file>